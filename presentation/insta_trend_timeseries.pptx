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6B6B6B"/>
                </a:solidFill>
                <a:latin typeface="맑은 고딕"/>
              </a:rPr>
              <a:t>인스타그램 해시태그</a:t>
            </a:r>
          </a:p>
          <a:p>
            <a:r>
              <a:rPr sz="5400" b="1">
                <a:solidFill>
                  <a:srgbClr val="222222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B6B6B"/>
                </a:solidFill>
                <a:latin typeface="맑은 고딕"/>
              </a:rPr>
              <a:t>12주간의 해시태그 게시량을 추세·계절성·예측 관점에서 분석합니다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데이터 기간 2026-01-01 ~ 2026-03-25  ·  6개 해시태그  ·  총 22,943건 게시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5544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 배경과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왜 정적 랭킹을 넘어 시계열로 보는가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2140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데이터셋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214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일별 게시량 패널 데이터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8833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원시 시계열 관찰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6개 해시태그의 12주 추이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55264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이동평균 평활화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25526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단기 노이즈 제거와 신호 분리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22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8221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시계열 분해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2219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추세 · 주간 계절성 · 잔차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3891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계절성 &amp; 모멘텀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3891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요일 패턴과 성장률 랭킹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5604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9560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예측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95604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추세+계절성 기반 14일 전망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2297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52297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인사이트 &amp; 결론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5229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맑은 고딕"/>
              </a:rPr>
              <a:t>운영 액션 제안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분석 배경과 목표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정적 해시태그 랭킹은 '지금 무엇이 크다'만 말해준다. 시계열은 '어디로 가는가'를 말해준다.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기존 insta_trend 코어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게시 묶음 한 번을 점수화해 순위만 산출 — 시간 축이 없음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시계열 관점의 가치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추세·계절성·모멘텀을 분리해 떠오르는 태그와 식는 태그를 조기 식별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핵심 질문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무엇이 성장 중인가? 언제(요일) 터지는가? 다음 2주는?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산출물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재현 가능한 일별 패널 → 분석 차트 → 운영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02 ·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데이터셋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2026-01-01 ~ 2026-03-25 · 84일 · 6개 태그 · 총 22,943건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형태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tidy 패널: (날짜, 해시태그) 당 한 행 — posts, likes 컬럼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구성 요소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기준 수준(level) + 선형 추세 + 요일 계절성 + 곱셈 노이즈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대상 태그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#sunset #coffee #hiking #devlife #outdoors #photography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1306C"/>
                </a:solidFill>
                <a:latin typeface="맑은 고딕"/>
              </a:rPr>
              <a:t>●  재현성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     난수 시드 고정 — 매 실행마다 동일한 데이터·차트 생성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원시 신호에서 구조를 찾다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03 · RAW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원시 시계열 관찰</a:t>
            </a:r>
          </a:p>
        </p:txBody>
      </p:sp>
      <p:pic>
        <p:nvPicPr>
          <p:cNvPr id="6" name="Picture 5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6개 태그의 일별 게시량 원본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톱니 모양 = 요일 주기성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#hiking·#sunset은 우상향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#devlife는 완만한 하락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04 · SMOOTHING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이동평균 평활화</a:t>
            </a:r>
          </a:p>
        </p:txBody>
      </p:sp>
      <p:pic>
        <p:nvPicPr>
          <p:cNvPr id="6" name="Picture 5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회색 = 원본(노이즈 큼)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굵은 선 = 7일 이동평균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14일 이동평균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평활화로 추세 방향이 또렷해짐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시계열 분해</a:t>
            </a:r>
          </a:p>
        </p:txBody>
      </p:sp>
      <p:pic>
        <p:nvPicPr>
          <p:cNvPr id="6" name="Picture 5" descr="03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49928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관측 = 추세 + 주간 + 잔차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추세: 꾸준한 상승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주간: ±20 규칙적 진동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잔차: 패턴 없는 무작위 → 모형 적합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계절성, 모멘텀, 그리고 예측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SEASONALITY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주간 계절성</a:t>
            </a:r>
          </a:p>
        </p:txBody>
      </p:sp>
      <p:pic>
        <p:nvPicPr>
          <p:cNvPr id="6" name="Picture 5" descr="04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각 태그 평균=100% 기준 정규화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야외 태그(#hiking·#outdoors)는 주말 급등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#coffee는 월요일, #devlife는 주중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게시·광고 타이밍 설계 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성장 모멘텀</a:t>
            </a:r>
          </a:p>
        </p:txBody>
      </p:sp>
      <p:pic>
        <p:nvPicPr>
          <p:cNvPr id="6" name="Picture 5" descr="05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1주차=100 지수화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#hiking: +244% 최고 모멘텀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#devlife: -65% 쇠퇴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절대량이 아닌 '변화 속도'로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예측 (+14일)</a:t>
            </a:r>
          </a:p>
        </p:txBody>
      </p:sp>
      <p:pic>
        <p:nvPicPr>
          <p:cNvPr id="6" name="Picture 5" descr="06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선형추세+요일 계절성 외삽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향후 14일 예측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음영 = 95% 신뢰 밴드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재고·운영 캠페인 선제 대응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인사이트 &amp; 결론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28016" cy="192024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📈 급상승</a:t>
            </a:r>
          </a:p>
          <a:p>
            <a:r>
              <a:rPr sz="2400" b="1">
                <a:solidFill>
                  <a:srgbClr val="222222"/>
                </a:solidFill>
                <a:latin typeface="맑은 고딕"/>
              </a:rPr>
              <a:t>#hiking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6B6B6B"/>
                </a:solidFill>
                <a:latin typeface="맑은 고딕"/>
              </a:rPr>
              <a:t>첫 주 대비 +244% — 주말 피크 + 우상향 추세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417320"/>
            <a:ext cx="128016" cy="192024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33AB4"/>
                </a:solidFill>
                <a:latin typeface="맑은 고딕"/>
              </a:rPr>
              <a:t>📉 쇠퇴</a:t>
            </a:r>
          </a:p>
          <a:p>
            <a:r>
              <a:rPr sz="2400" b="1">
                <a:solidFill>
                  <a:srgbClr val="222222"/>
                </a:solidFill>
                <a:latin typeface="맑은 고딕"/>
              </a:rPr>
              <a:t>#devlife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6B6B6B"/>
                </a:solidFill>
                <a:latin typeface="맑은 고딕"/>
              </a:rPr>
              <a:t>-65% — 지속 하락, 콘텐츠 재정비 필요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128016" cy="192024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맑은 고딕"/>
              </a:rPr>
              <a:t>🗓 주간 패턴</a:t>
            </a:r>
          </a:p>
          <a:p>
            <a:r>
              <a:rPr sz="2400" b="1">
                <a:solidFill>
                  <a:srgbClr val="222222"/>
                </a:solidFill>
                <a:latin typeface="맑은 고딕"/>
              </a:rPr>
              <a:t>요일 효과 뚜렷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6B6B6B"/>
                </a:solidFill>
                <a:latin typeface="맑은 고딕"/>
              </a:rPr>
              <a:t>야외 태그는 주말, #coffee/#devlife는 평일 집중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3611880"/>
            <a:ext cx="128016" cy="192024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B6B6B"/>
                </a:solidFill>
                <a:latin typeface="맑은 고딕"/>
              </a:rPr>
              <a:t>🔮 예측</a:t>
            </a:r>
          </a:p>
          <a:p>
            <a:r>
              <a:rPr sz="2400" b="1">
                <a:solidFill>
                  <a:srgbClr val="222222"/>
                </a:solidFill>
                <a:latin typeface="맑은 고딕"/>
              </a:rPr>
              <a:t>+14일 전망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6B6B6B"/>
                </a:solidFill>
                <a:latin typeface="맑은 고딕"/>
              </a:rPr>
              <a:t>추세+계절성 모델로 게시량 선제 대응 가능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방법론 &amp; 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데이터 생성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value(t) = level + trend·t + seasonal(요일) + noise 구조로 시드 고정 합성 (timeseries_data.py)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이동평균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7일·14일 중심 이동평균으로 단기 변동 제거 (pandas rolling)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시계열 분해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가법 모형: 관측 = 추세 + 주간 계절성 + 잔차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모멘텀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7일 이동평균을 1주차=100으로 지수화해 성장률 비교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예측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최소제곱 선형추세 + 요일별 평균 계절성을 14일 외삽, 95% 잔차 밴드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E1306C"/>
                </a:solidFill>
                <a:latin typeface="맑은 고딕"/>
              </a:rPr>
              <a:t>●  재현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python presentation/build_deck.py — 차트와 .pptx를 결정론적으로 재생성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insta_trend · 시계열 데이터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
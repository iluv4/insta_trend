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05840" y="1600200"/>
            <a:ext cx="2743200" cy="420624"/>
          </a:xfrm>
          <a:prstGeom prst="roundRect">
            <a:avLst>
              <a:gd name="adj" fmla="val 50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5506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1306C"/>
                </a:solidFill>
                <a:latin typeface="Segoe UI"/>
              </a:rPr>
              <a:t>TIME-SERIES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8600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666670"/>
                </a:solidFill>
                <a:latin typeface="맑은 고딕"/>
              </a:rPr>
              <a:t>한국 인스타그램 해시태그</a:t>
            </a:r>
          </a:p>
          <a:p>
            <a:pPr>
              <a:spcBef>
                <a:spcPts val="400"/>
              </a:spcBef>
            </a:pPr>
            <a:r>
              <a:rPr sz="5600" b="1">
                <a:solidFill>
                  <a:srgbClr val="1A1A1E"/>
                </a:solidFill>
                <a:latin typeface="맑은 고딕"/>
              </a:rPr>
              <a:t>시계열 데이터 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5262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666670"/>
                </a:solidFill>
                <a:latin typeface="맑은 고딕"/>
              </a:rPr>
              <a:t>네이버 데이터랩 실데이터로 본 2026년 상반기 트렌드 — 무엇이 뜨고, 어디로 가는가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5486400"/>
            <a:ext cx="59436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56692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9A9AA2"/>
                </a:solidFill>
                <a:latin typeface="맑은 고딕"/>
              </a:rPr>
              <a:t>기준일 2026년 6월 11일 (KST)    분석 기간 2026-01-01 ~ 2026-06-10 (161일)    해시태그 9개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591056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5506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1306C"/>
                </a:solidFill>
                <a:latin typeface="Segoe U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609344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A1E"/>
                </a:solidFill>
                <a:latin typeface="맑은 고딕"/>
              </a:rPr>
              <a:t>문제 정의와 데이터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636776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마케터의 고민 · 네이버 데이터랩 실데이터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3040" y="2066544"/>
            <a:ext cx="100584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2157984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2219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1306C"/>
                </a:solidFill>
                <a:latin typeface="Segoe U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76272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A1E"/>
                </a:solidFill>
                <a:latin typeface="맑은 고딕"/>
              </a:rPr>
              <a:t>시계열, 직관으로 이해하기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203704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겹친 신호 · 추세 걷어내기 · 반복 패턴 찾기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63040" y="2633472"/>
            <a:ext cx="100584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2724912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7889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1306C"/>
                </a:solidFill>
                <a:latin typeface="Segoe U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27432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A1E"/>
                </a:solidFill>
                <a:latin typeface="맑은 고딕"/>
              </a:rPr>
              <a:t>실데이터로 분석하기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770632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평활화 · 정상성 · 분해 · 계절성 · 예측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63040" y="3200400"/>
            <a:ext cx="100584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77240" y="329184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3558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1306C"/>
                </a:solidFill>
                <a:latin typeface="Segoe U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A1E"/>
                </a:solidFill>
                <a:latin typeface="맑은 고딕"/>
              </a:rPr>
              <a:t>모델 비교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3375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선형 베이스라인 vs SARIMA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63040" y="3767328"/>
            <a:ext cx="100584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77240" y="3858768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92277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1306C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3877056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A1E"/>
                </a:solidFill>
                <a:latin typeface="맑은 고딕"/>
              </a:rPr>
              <a:t>결론: 지금 뜨는 태그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90448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2026-06-11 트렌딩 태그와 활용 전략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63040" y="4334256"/>
            <a:ext cx="100584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77240" y="4425696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48970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1306C"/>
                </a:solidFill>
                <a:latin typeface="Segoe UI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443984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A1E"/>
                </a:solidFill>
                <a:latin typeface="맑은 고딕"/>
              </a:rPr>
              <a:t>우리 계정은 어떻게 될까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471416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도달 분해 · 14일 예측으로 답하기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463040" y="4901184"/>
            <a:ext cx="100584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77240" y="4992624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505663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1306C"/>
                </a:solidFill>
                <a:latin typeface="Segoe UI"/>
              </a:rPr>
              <a:t>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63040" y="5010912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A1E"/>
                </a:solidFill>
                <a:latin typeface="맑은 고딕"/>
              </a:rPr>
              <a:t>AI로 확장하기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5038344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LSTM · Transformer · RAG · LLM 에이전트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463040" y="5468112"/>
            <a:ext cx="100584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77240" y="5559552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6235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1306C"/>
                </a:solidFill>
                <a:latin typeface="Segoe UI"/>
              </a:rPr>
              <a:t>08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63040" y="55778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A1E"/>
                </a:solidFill>
                <a:latin typeface="맑은 고딕"/>
              </a:rPr>
              <a:t>부록: 코드 · 한계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5605272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구현 요약과 데이터 캐비앗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문제 정의 — 마케터의 고민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536192"/>
            <a:ext cx="10881360" cy="841248"/>
          </a:xfrm>
          <a:prstGeom prst="roundRect">
            <a:avLst>
              <a:gd name="adj" fmla="val 8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91440" cy="841248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27632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1A1A1E"/>
                </a:solidFill>
                <a:latin typeface="맑은 고딕"/>
              </a:rPr>
              <a:t>“다음 달에 어떤 해시태그가 떡상할까? 우리 계정 도달은 오를까, 꺾일까?” — 감으로는 답할 수 없는 질문들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33472"/>
            <a:ext cx="10698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“어떤 태그가 떡상할까?”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인기 순위는 '이미 큰 것'만 보여줌 — 순위에 올라온 시점은 대개 피크 직전이라 따라 들어가면 늦음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“우리 계정은 어떻게 될까?”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도달·팔로워 그래프가 오르는 중인지, 꺾이는 중인지, 그냥 요일 출렁임인지 눈으로는 구분 불가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“왜 예측이 어렵나?”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관심도 = 추세 + 계절성 + 이벤트 + 노이즈가 섞인 신호 — 분리하지 않으면 노이즈를 트렌드로 오독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이 발표의 제안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시계열 분해로 신호를 성분별로 나누면 '진짜 상승'·'피크 통과'·'단순 요일 효과'를 데이터로 구분할 수 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01 ·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분석 접근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536192"/>
            <a:ext cx="10881360" cy="841248"/>
          </a:xfrm>
          <a:prstGeom prst="roundRect">
            <a:avLst>
              <a:gd name="adj" fmla="val 8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91440" cy="841248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27632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1A1A1E"/>
                </a:solidFill>
                <a:latin typeface="맑은 고딕"/>
              </a:rPr>
              <a:t>질문: 2026년 6월 11일 현재, 한국에서 어떤 해시태그가 뜨고 있고 — 어디로 가는가?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33472"/>
            <a:ext cx="10698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왜 시계열인가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한 시점의 인기 순위는 '지금 큰 것'만 보여줌 — 추세·계절성·모멘텀을 분리해야 '뜨는 것'과 '식는 것'을 구분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데이터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네이버 데이터랩 검색어트렌드 실데이터 — 한국 사용자의 일별 검색 관심도 (2026-06-11 수집)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프록시 가정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인스타그램은 해시태그 시계열 공개 API가 없음 → 같은 주제의 네이버 검색량을 한국 관심도의 대리지표로 사용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분석 절차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EDA → 평활화 → 정상성 진단 → ACF → 분해 → 계절성/모멘텀 → 예측 → 액션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01 ·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데이터셋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536192"/>
            <a:ext cx="10881360" cy="841248"/>
          </a:xfrm>
          <a:prstGeom prst="roundRect">
            <a:avLst>
              <a:gd name="adj" fmla="val 8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91440" cy="841248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27632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1A1A1E"/>
                </a:solidFill>
                <a:latin typeface="맑은 고딕"/>
              </a:rPr>
              <a:t>2026-01-01 ~ 2026-06-10 · 161일 · 일 단위 · 라이프스타일 해시태그 9개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33472"/>
            <a:ext cx="10698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수집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네이버 데이터랩 검색어트렌드 API — 키워드그룹별 일별 ratio (그룹 예: 러닝=러닝+러닝크루)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대상 태그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#러닝 #캠핑 #등산 #카페 #국내여행 #다이어트 #피크닉 #클라이밍 #빵지순례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ratio의 의미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요청 내 최대값=100인 상대값 → 시리즈 간 절대 비교는 불가, 시리즈 내 시간 변화 분석은 유효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형태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tidy 패널 (date, hashtag, ratio) → pivot하여 날짜×태그 행렬로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0" y="182880"/>
            <a:ext cx="4206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0" b="1">
                <a:solidFill>
                  <a:srgbClr val="2B2B33"/>
                </a:solidFill>
                <a:latin typeface="Segoe U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697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1306C"/>
                </a:solidFill>
                <a:latin typeface="Segoe UI"/>
              </a:rPr>
              <a:t>PART 1 · INTUITION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004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</a:rPr>
              <a:t>시계열, 직관으로 이해하기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617720"/>
            <a:ext cx="1371600" cy="3810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02 · INTUITION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① 시계열은 '겹쳐진 신호'다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A1A1E"/>
                </a:solidFill>
                <a:latin typeface="맑은 고딕"/>
              </a:rPr>
              <a:t>하나의 그래프처럼 보이지만, 사실은 여러 신호가 포개진 결과다.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01168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424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💡 비유   </a:t>
            </a:r>
            <a:r>
              <a:rPr sz="1350" b="0">
                <a:solidFill>
                  <a:srgbClr val="1A1A1E"/>
                </a:solidFill>
                <a:latin typeface="맑은 고딕"/>
              </a:rPr>
              <a:t>노래 한 곡 = 멜로디 + 비트 + 잡음. 시계열도 추세 + 주기 + 우연이 합쳐진 소리다.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063240"/>
            <a:ext cx="3444240" cy="2514600"/>
          </a:xfrm>
          <a:prstGeom prst="roundRect">
            <a:avLst>
              <a:gd name="adj" fmla="val 7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82696"/>
            <a:ext cx="29321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1A1A1E"/>
                </a:solidFill>
                <a:latin typeface="맑은 고딕"/>
              </a:rPr>
              <a:t>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95928"/>
            <a:ext cx="2932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E1306C"/>
                </a:solidFill>
                <a:latin typeface="맑은 고딕"/>
              </a:rPr>
              <a:t>추세 (장기 방향)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34840"/>
            <a:ext cx="293217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팔로워가 늘듯 천천히 오르내리는 큰 흐름. '이 태그가 뜨는가, 식는가'를 결정.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6928" y="3063240"/>
            <a:ext cx="3444240" cy="2514600"/>
          </a:xfrm>
          <a:prstGeom prst="roundRect">
            <a:avLst>
              <a:gd name="adj" fmla="val 7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2960" y="3282696"/>
            <a:ext cx="29321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1A1A1E"/>
                </a:solidFill>
                <a:latin typeface="맑은 고딕"/>
              </a:rPr>
              <a:t>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2960" y="3995928"/>
            <a:ext cx="2932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E1306C"/>
                </a:solidFill>
                <a:latin typeface="맑은 고딕"/>
              </a:rPr>
              <a:t>계절성 (반복 리듬)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960" y="4434840"/>
            <a:ext cx="293217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매주 주말마다 솟는 규칙적 패턴. 달력만 봐도 예상되는 출렁임.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5488" y="3063240"/>
            <a:ext cx="3444240" cy="2514600"/>
          </a:xfrm>
          <a:prstGeom prst="roundRect">
            <a:avLst>
              <a:gd name="adj" fmla="val 7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1520" y="3282696"/>
            <a:ext cx="29321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1A1A1E"/>
                </a:solidFill>
                <a:latin typeface="맑은 고딕"/>
              </a:rPr>
              <a:t>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1520" y="3995928"/>
            <a:ext cx="2932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E1306C"/>
                </a:solidFill>
                <a:latin typeface="맑은 고딕"/>
              </a:rPr>
              <a:t>불규칙 (우연·이벤트)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1520" y="4434840"/>
            <a:ext cx="293217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연휴·바이럴처럼 설명 안 되는 잡음과 깜짝 사건. 예측이 어려운 부분.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806440"/>
            <a:ext cx="10881360" cy="457200"/>
          </a:xfrm>
          <a:prstGeom prst="roundRect">
            <a:avLst>
              <a:gd name="adj" fmla="val 30000"/>
            </a:avLst>
          </a:prstGeom>
          <a:solidFill>
            <a:srgbClr val="1A1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806440"/>
            <a:ext cx="10424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E1306C"/>
                </a:solidFill>
                <a:latin typeface="Segoe UI"/>
              </a:rPr>
              <a:t>수식  </a:t>
            </a:r>
            <a:r>
              <a:rPr sz="1300" b="0">
                <a:solidFill>
                  <a:srgbClr val="FFFFFF"/>
                </a:solidFill>
                <a:latin typeface="Consolas"/>
              </a:rPr>
              <a:t>관측 = 추세(T) + 계절(S) + 불규칙(R)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05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02 · INTUITION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② 비교하려면 '추세를 걷어내라'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A1A1E"/>
                </a:solidFill>
                <a:latin typeface="맑은 고딕"/>
              </a:rPr>
              <a:t>값이 계속 커지면 어제와 오늘을 그대로 비교할 수 없다 — 기준선이 움직이니까.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01168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424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💡 비유   </a:t>
            </a:r>
            <a:r>
              <a:rPr sz="1350" b="0">
                <a:solidFill>
                  <a:srgbClr val="1A1A1E"/>
                </a:solidFill>
                <a:latin typeface="맑은 고딕"/>
              </a:rPr>
              <a:t>키 자체가 아니라 '어제보다 몇 cm 자랐나'를 보면, 성장 속도를 공정하게 비교할 수 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063240"/>
            <a:ext cx="3444240" cy="2514600"/>
          </a:xfrm>
          <a:prstGeom prst="roundRect">
            <a:avLst>
              <a:gd name="adj" fmla="val 7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82696"/>
            <a:ext cx="29321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1A1A1E"/>
                </a:solidFill>
                <a:latin typeface="맑은 고딕"/>
              </a:rPr>
              <a:t>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95928"/>
            <a:ext cx="2932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E1306C"/>
                </a:solidFill>
                <a:latin typeface="맑은 고딕"/>
              </a:rPr>
              <a:t>비정상 (기준선이 이동)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34840"/>
            <a:ext cx="293217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평균이 시간에 따라 움직이는 상태. 추세 때문에 '가짜 상관'에 속기 쉽다.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6928" y="3063240"/>
            <a:ext cx="3444240" cy="2514600"/>
          </a:xfrm>
          <a:prstGeom prst="roundRect">
            <a:avLst>
              <a:gd name="adj" fmla="val 7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2960" y="3282696"/>
            <a:ext cx="29321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1A1A1E"/>
                </a:solidFill>
                <a:latin typeface="맑은 고딕"/>
              </a:rPr>
              <a:t>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2960" y="3995928"/>
            <a:ext cx="2932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E1306C"/>
                </a:solidFill>
                <a:latin typeface="맑은 고딕"/>
              </a:rPr>
              <a:t>차분 = 어제와의 차이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960" y="4434840"/>
            <a:ext cx="293217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Xₜ − Xₜ₋₁ 로 바꾸면 추세가 사라지고 변화량만 남는다.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5488" y="3063240"/>
            <a:ext cx="3444240" cy="2514600"/>
          </a:xfrm>
          <a:prstGeom prst="roundRect">
            <a:avLst>
              <a:gd name="adj" fmla="val 7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1520" y="3282696"/>
            <a:ext cx="29321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1A1A1E"/>
                </a:solidFill>
                <a:latin typeface="맑은 고딕"/>
              </a:rPr>
              <a:t>⚖️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1520" y="3995928"/>
            <a:ext cx="2932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E1306C"/>
                </a:solidFill>
                <a:latin typeface="맑은 고딕"/>
              </a:rPr>
              <a:t>정상성 (안정된 신호)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1520" y="4434840"/>
            <a:ext cx="293217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평균·변동이 일정해진 상태. 그래야 패턴 분석과 예측이 신뢰성을 가진다.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806440"/>
            <a:ext cx="10881360" cy="457200"/>
          </a:xfrm>
          <a:prstGeom prst="roundRect">
            <a:avLst>
              <a:gd name="adj" fmla="val 30000"/>
            </a:avLst>
          </a:prstGeom>
          <a:solidFill>
            <a:srgbClr val="1A1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806440"/>
            <a:ext cx="10424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E1306C"/>
                </a:solidFill>
                <a:latin typeface="Segoe UI"/>
              </a:rPr>
              <a:t>수식  </a:t>
            </a:r>
            <a:r>
              <a:rPr sz="1300" b="0">
                <a:solidFill>
                  <a:srgbClr val="FFFFFF"/>
                </a:solidFill>
                <a:latin typeface="Consolas"/>
              </a:rPr>
              <a:t>차분  ∇Xₜ = Xₜ − Xₜ₋₁    (추세 제거)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06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02 · INTUITION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③ '같은 패턴이 반복되나?' — 자기상관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A1A1E"/>
                </a:solidFill>
                <a:latin typeface="맑은 고딕"/>
              </a:rPr>
              <a:t>오늘 값이 7일 전과 닮았는가? 닮은 정도를 시차별로 재면 숨은 리듬이 드러난다.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011680"/>
            <a:ext cx="10881360" cy="749808"/>
          </a:xfrm>
          <a:prstGeom prst="roundRect">
            <a:avLst>
              <a:gd name="adj" fmla="val 12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424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💡 비유   </a:t>
            </a:r>
            <a:r>
              <a:rPr sz="1350" b="0">
                <a:solidFill>
                  <a:srgbClr val="1A1A1E"/>
                </a:solidFill>
                <a:latin typeface="맑은 고딕"/>
              </a:rPr>
              <a:t>요일 장사 같다 — 이번 주 토요일 매출은 지난 토요일과 닮는다. 그 '닮음'이 자기상관.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063240"/>
            <a:ext cx="3444240" cy="2514600"/>
          </a:xfrm>
          <a:prstGeom prst="roundRect">
            <a:avLst>
              <a:gd name="adj" fmla="val 7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82696"/>
            <a:ext cx="29321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1A1A1E"/>
                </a:solidFill>
                <a:latin typeface="맑은 고딕"/>
              </a:rPr>
              <a:t>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95928"/>
            <a:ext cx="2932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E1306C"/>
                </a:solidFill>
                <a:latin typeface="맑은 고딕"/>
              </a:rPr>
              <a:t>자기상관 (ACF)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34840"/>
            <a:ext cx="293217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며칠 전 값과 얼마나 닮았는지 시차별로 측정. lag 7에서 튀면 '주간 리듬' 존재.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6928" y="3063240"/>
            <a:ext cx="3444240" cy="2514600"/>
          </a:xfrm>
          <a:prstGeom prst="roundRect">
            <a:avLst>
              <a:gd name="adj" fmla="val 7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2960" y="3282696"/>
            <a:ext cx="29321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1A1A1E"/>
                </a:solidFill>
                <a:latin typeface="맑은 고딕"/>
              </a:rPr>
              <a:t>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2960" y="3995928"/>
            <a:ext cx="2932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E1306C"/>
                </a:solidFill>
                <a:latin typeface="맑은 고딕"/>
              </a:rPr>
              <a:t>백색잡음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960" y="4434840"/>
            <a:ext cx="293217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아무 패턴 없는 순수 잡음. 분석 후 남은 찌꺼기가 여기에 가까우면 잘 설명한 것.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5488" y="3063240"/>
            <a:ext cx="3444240" cy="2514600"/>
          </a:xfrm>
          <a:prstGeom prst="roundRect">
            <a:avLst>
              <a:gd name="adj" fmla="val 7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1520" y="3282696"/>
            <a:ext cx="293217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0">
                <a:solidFill>
                  <a:srgbClr val="1A1A1E"/>
                </a:solidFill>
                <a:latin typeface="맑은 고딕"/>
              </a:rPr>
              <a:t>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1520" y="3995928"/>
            <a:ext cx="2932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E1306C"/>
                </a:solidFill>
                <a:latin typeface="맑은 고딕"/>
              </a:rPr>
              <a:t>예측 모델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1520" y="4434840"/>
            <a:ext cx="293217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666670"/>
                </a:solidFill>
                <a:latin typeface="맑은 고딕"/>
              </a:rPr>
              <a:t>추세+요일 패턴을 학습해 미래로 연장. 더 정교한 버전이 ARIMA·SARIMA.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806440"/>
            <a:ext cx="10881360" cy="457200"/>
          </a:xfrm>
          <a:prstGeom prst="roundRect">
            <a:avLst>
              <a:gd name="adj" fmla="val 30000"/>
            </a:avLst>
          </a:prstGeom>
          <a:solidFill>
            <a:srgbClr val="1A1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806440"/>
            <a:ext cx="104241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E1306C"/>
                </a:solidFill>
                <a:latin typeface="Segoe UI"/>
              </a:rPr>
              <a:t>수식  </a:t>
            </a:r>
            <a:r>
              <a:rPr sz="1300" b="0">
                <a:solidFill>
                  <a:srgbClr val="FFFFFF"/>
                </a:solidFill>
                <a:latin typeface="Consolas"/>
              </a:rPr>
              <a:t>자기상관  ρ(k) = corr(Xₜ, Xₜ₋ₖ)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07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0" y="182880"/>
            <a:ext cx="4206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0" b="1">
                <a:solidFill>
                  <a:srgbClr val="2B2B33"/>
                </a:solidFill>
                <a:latin typeface="Segoe U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697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1306C"/>
                </a:solidFill>
                <a:latin typeface="Segoe UI"/>
              </a:rPr>
              <a:t>PART 2 ·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004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</a:rPr>
              <a:t>실데이터로 분석하기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617720"/>
            <a:ext cx="1371600" cy="3810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03 · RAW SIGNAL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원시 시계열 관찰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818120" cy="393494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1554480"/>
            <a:ext cx="3246120" cy="4709160"/>
          </a:xfrm>
          <a:prstGeom prst="roundRect">
            <a:avLst>
              <a:gd name="adj" fmla="val 5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59952" y="175564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📖  읽는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8759952" y="2212848"/>
            <a:ext cx="27432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359152"/>
            <a:ext cx="27889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9개 태그의 일별 관심도 원계열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톱니 모양 = 주 7일 계절성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#캠핑·#피크닉: 봄에 큰 산(계절 추세)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#카페: 1월 고점 후 하락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5월 중순 #등산 스파이크 = 연휴 외생 이벤트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08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03 · SMOOTHING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이동평균 평활화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2_moving_a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818120" cy="393494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1554480"/>
            <a:ext cx="3246120" cy="4709160"/>
          </a:xfrm>
          <a:prstGeom prst="roundRect">
            <a:avLst>
              <a:gd name="adj" fmla="val 5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59952" y="175564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📖  읽는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8759952" y="2212848"/>
            <a:ext cx="27432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359152"/>
            <a:ext cx="27889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포커스: #등산 (6월 모멘텀 1위)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회색 = 원계열(노이즈)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7일 MA = 주간 주기 상쇄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28일 MA = 장기 추세만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1~5월 꾸준한 우상향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09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03 · STATIONARITY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정상성 진단과 차분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3_station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818120" cy="471158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1554480"/>
            <a:ext cx="3246120" cy="4709160"/>
          </a:xfrm>
          <a:prstGeom prst="roundRect">
            <a:avLst>
              <a:gd name="adj" fmla="val 5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59952" y="175564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📖  읽는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8759952" y="2212848"/>
            <a:ext cx="27432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359152"/>
            <a:ext cx="27889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위: 롤링 평균이 계속 상승 → 평균 비불변 = 비정상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롤링 표준편차도 5월에 점프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아래: 1차 차분 후 평균이 0에 고정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차분으로 (약)정상성 확보 → ARIMA의 d=1에 해당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03 · ACF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자기상관함수(ACF)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4_a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818120" cy="3525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1554480"/>
            <a:ext cx="3246120" cy="4709160"/>
          </a:xfrm>
          <a:prstGeom prst="roundRect">
            <a:avLst>
              <a:gd name="adj" fmla="val 5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59952" y="175564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📖  읽는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8759952" y="2212848"/>
            <a:ext cx="27432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359152"/>
            <a:ext cx="27889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왼쪽(원계열): 천천히 감쇠 → 추세 지배 = 비정상 신호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오른쪽(차분): lag 7·14·21 스파이크 → 주간 계절성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점선 = ±1.96/√n 백색잡음 한계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이론 그대로: 차분이 추세를 지우자 주기가 드러남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03 · DECOMPOSITION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가법 분해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5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818120" cy="50692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1554480"/>
            <a:ext cx="3246120" cy="4709160"/>
          </a:xfrm>
          <a:prstGeom prst="roundRect">
            <a:avLst>
              <a:gd name="adj" fmla="val 5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59952" y="175564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📖  읽는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8759952" y="2212848"/>
            <a:ext cx="27432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359152"/>
            <a:ext cx="27889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X = 추세 + 계절 + 잔차로 분리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추세: 1월~5월 +60% 수준 상승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계절: 주말 양(+), 주중 음(−) 규칙 진동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잔차: 5월 연휴 스파이크 외엔 백색잡음에 가까움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03 · SEASONALITY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주간 계절성 프로파일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6_weekly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818120" cy="393494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1554480"/>
            <a:ext cx="3246120" cy="4709160"/>
          </a:xfrm>
          <a:prstGeom prst="roundRect">
            <a:avLst>
              <a:gd name="adj" fmla="val 5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59952" y="175564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📖  읽는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8759952" y="2212848"/>
            <a:ext cx="27432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359152"/>
            <a:ext cx="27889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요일 평균을 자기 평균=100으로 정규화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#등산·#피크닉·#캠핑: 주말(토) 피크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#다이어트: 월요일 피크 — '월요일 결심' 효과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게시 타이밍 설계의 직접 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03 · MOMENTUM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성장 모멘텀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7_grow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818120" cy="393494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1554480"/>
            <a:ext cx="3246120" cy="4709160"/>
          </a:xfrm>
          <a:prstGeom prst="roundRect">
            <a:avLst>
              <a:gd name="adj" fmla="val 5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59952" y="175564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📖  읽는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8759952" y="2212848"/>
            <a:ext cx="27432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359152"/>
            <a:ext cx="27889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1월 첫 주=100 지수화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연초 대비: #피크닉 +70% · #캠핑 +61% · #등산 +48%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최근 30일: #등산 +7.9% · #클라이밍 +5.5% 만 상승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봄 태그(피크닉·캠핑)는 5월 피크 통과 후 하락 전환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03 · FORECAST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14일 예측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8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818120" cy="394016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1554480"/>
            <a:ext cx="3246120" cy="4709160"/>
          </a:xfrm>
          <a:prstGeom prst="roundRect">
            <a:avLst>
              <a:gd name="adj" fmla="val 5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59952" y="175564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📖  읽는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8759952" y="2212848"/>
            <a:ext cx="27432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359152"/>
            <a:ext cx="27889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모형: 선형추세 + 요일 계절성 (최근 8주 적합)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점선 = 6/11~6/24 예측 경로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음영 = 95% 예측구간 (잔차 분산 기반)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주말마다 솟는 요일 패턴까지 재현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04 · MODEL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모델 비교 — 베이스라인 vs SARIMA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9_sarima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818120" cy="393494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1554480"/>
            <a:ext cx="3246120" cy="4709160"/>
          </a:xfrm>
          <a:prstGeom prst="roundRect">
            <a:avLst>
              <a:gd name="adj" fmla="val 5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59952" y="175564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📖  읽는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8759952" y="2212848"/>
            <a:ext cx="27432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359152"/>
            <a:ext cx="27889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분홍 = 선형추세+요일더미(수업용 기본형)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검정 = SARIMA(1,1,1)(1,1,1)₇ — 차분·AR·MA·계절을 모두 추정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홀드아웃 백테스트(마지막 14일): 평균절대오차 SARIMA 4.85 &lt; 베이스라인 5.65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SARIMA가 ~14% 더 정확 — 다만 해석은 베이스라인이 더 투명(추세·요일 분리)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교훈: 단순 모델로 '구조 이해', SARIMA로 '정확도' — 목적에 따라 선택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0" y="182880"/>
            <a:ext cx="4206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0" b="1">
                <a:solidFill>
                  <a:srgbClr val="2B2B33"/>
                </a:solidFill>
                <a:latin typeface="Segoe U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697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1306C"/>
                </a:solidFill>
                <a:latin typeface="Segoe U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004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</a:rPr>
              <a:t>그래서, 지금 뭘 써야 하나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617720"/>
            <a:ext cx="1371600" cy="3810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05 · NOW TRENDING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2026-06-11 기준 트렌딩 해시태그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481328"/>
            <a:ext cx="5349240" cy="1938528"/>
          </a:xfrm>
          <a:prstGeom prst="roundRect">
            <a:avLst>
              <a:gd name="adj" fmla="val 6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91440" cy="1609344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2" y="1664208"/>
            <a:ext cx="475488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1306C"/>
                </a:solidFill>
                <a:latin typeface="맑은 고딕"/>
              </a:rPr>
              <a:t>📈 지금 상승 중 (최근 30일 모멘텀 +)</a:t>
            </a:r>
          </a:p>
          <a:p>
            <a:pPr>
              <a:spcBef>
                <a:spcPts val="200"/>
              </a:spcBef>
            </a:pPr>
            <a:r>
              <a:rPr sz="2200" b="1">
                <a:solidFill>
                  <a:srgbClr val="1A1A1E"/>
                </a:solidFill>
                <a:latin typeface="맑은 고딕"/>
              </a:rPr>
              <a:t>#등산  #클라이밍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666670"/>
                </a:solidFill>
                <a:latin typeface="맑은 고딕"/>
              </a:rPr>
              <a:t>등산 +7.9%, 클라이밍 +5.5% — 초여름에도 모멘텀 유지, 지금 올라탈 태그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81328"/>
            <a:ext cx="5349240" cy="1938528"/>
          </a:xfrm>
          <a:prstGeom prst="roundRect">
            <a:avLst>
              <a:gd name="adj" fmla="val 6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645920"/>
            <a:ext cx="91440" cy="1609344"/>
          </a:xfrm>
          <a:prstGeom prst="rect">
            <a:avLst/>
          </a:prstGeom>
          <a:solidFill>
            <a:srgbClr val="6A3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56832" y="1664208"/>
            <a:ext cx="475488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6A3DB8"/>
                </a:solidFill>
                <a:latin typeface="맑은 고딕"/>
              </a:rPr>
              <a:t>🌊 피크 통과 (계절성 하락 전환)</a:t>
            </a:r>
          </a:p>
          <a:p>
            <a:pPr>
              <a:spcBef>
                <a:spcPts val="200"/>
              </a:spcBef>
            </a:pPr>
            <a:r>
              <a:rPr sz="2200" b="1">
                <a:solidFill>
                  <a:srgbClr val="1A1A1E"/>
                </a:solidFill>
                <a:latin typeface="맑은 고딕"/>
              </a:rPr>
              <a:t>#피크닉  #캠핑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666670"/>
                </a:solidFill>
                <a:latin typeface="맑은 고딕"/>
              </a:rPr>
              <a:t>연초 대비 +70%/+61%로 컸지만 최근 30일 -21%/-17% — 봄 수요 종료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675888"/>
            <a:ext cx="5349240" cy="1938528"/>
          </a:xfrm>
          <a:prstGeom prst="roundRect">
            <a:avLst>
              <a:gd name="adj" fmla="val 6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840480"/>
            <a:ext cx="91440" cy="1609344"/>
          </a:xfrm>
          <a:prstGeom prst="rect">
            <a:avLst/>
          </a:prstGeom>
          <a:solidFill>
            <a:srgbClr val="1A1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3272" y="3858768"/>
            <a:ext cx="475488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A1A1E"/>
                </a:solidFill>
                <a:latin typeface="맑은 고딕"/>
              </a:rPr>
              <a:t>💪 안정 수요 (시즌 진입)</a:t>
            </a:r>
          </a:p>
          <a:p>
            <a:pPr>
              <a:spcBef>
                <a:spcPts val="200"/>
              </a:spcBef>
            </a:pPr>
            <a:r>
              <a:rPr sz="2200" b="1">
                <a:solidFill>
                  <a:srgbClr val="1A1A1E"/>
                </a:solidFill>
                <a:latin typeface="맑은 고딕"/>
              </a:rPr>
              <a:t>#다이어트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666670"/>
                </a:solidFill>
                <a:latin typeface="맑은 고딕"/>
              </a:rPr>
              <a:t>최근 30일 +0.4%로 하락 멈춤 — 여름 직전 수요 재점화 구간, 월요일 피크 활용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675888"/>
            <a:ext cx="5349240" cy="1938528"/>
          </a:xfrm>
          <a:prstGeom prst="roundRect">
            <a:avLst>
              <a:gd name="adj" fmla="val 6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3840480"/>
            <a:ext cx="91440" cy="1609344"/>
          </a:xfrm>
          <a:prstGeom prst="rect">
            <a:avLst/>
          </a:prstGeom>
          <a:solidFill>
            <a:srgbClr val="66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56832" y="3858768"/>
            <a:ext cx="475488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666670"/>
                </a:solidFill>
                <a:latin typeface="맑은 고딕"/>
              </a:rPr>
              <a:t>📉 약세 지속</a:t>
            </a:r>
          </a:p>
          <a:p>
            <a:pPr>
              <a:spcBef>
                <a:spcPts val="200"/>
              </a:spcBef>
            </a:pPr>
            <a:r>
              <a:rPr sz="2200" b="1">
                <a:solidFill>
                  <a:srgbClr val="1A1A1E"/>
                </a:solidFill>
                <a:latin typeface="맑은 고딕"/>
              </a:rPr>
              <a:t>#카페  #국내여행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666670"/>
                </a:solidFill>
                <a:latin typeface="맑은 고딕"/>
              </a:rPr>
              <a:t>연초 대비 -50%/-15% — 단독 태그보다 상승 태그와 조합 권장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05 ·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콘텐츠 활용 전략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536192"/>
            <a:ext cx="10881360" cy="841248"/>
          </a:xfrm>
          <a:prstGeom prst="roundRect">
            <a:avLst>
              <a:gd name="adj" fmla="val 8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91440" cy="841248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27632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1A1A1E"/>
                </a:solidFill>
                <a:latin typeface="맑은 고딕"/>
              </a:rPr>
              <a:t>시계열 인사이트 → 게시물 전략: 무엇을(태그), 언제(요일), 어떻게(조합)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33472"/>
            <a:ext cx="10698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주력 태그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#등산 #클라이밍 중심 콘텐츠 — 상승 모멘텀 구간에 게시해 노출 탄력 확보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게시 타이밍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아웃도어 태그는 금~토 오전(주말 피크 직전), #다이어트는 일 저녁~월 오전('월요일 결심' 수요 선점)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태그 조합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상승 태그 + 안정 태그 묶기: #등산 × #다이어트(여름 준비), #클라이밍 × #카페(실내 연계)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리스크 관리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#피크닉·#캠핑은 하락 전환 — 신규 기획 보류, 기존 콘텐츠는 내년 3~4월 재활용 예약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운영 루프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데이터랩 재수집(주 1회) → 모멘텀 갱신 → 태그 포트폴리오 리밸런싱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06 · OUR ACCOUNT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되돌아온 질문: 우리 계정은 어떻게 될까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0_account_de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818120" cy="50222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1554480"/>
            <a:ext cx="3246120" cy="4709160"/>
          </a:xfrm>
          <a:prstGeom prst="roundRect">
            <a:avLst>
              <a:gd name="adj" fmla="val 5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59952" y="175564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📖  읽는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8759952" y="2212848"/>
            <a:ext cx="27432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359152"/>
            <a:ext cx="27889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가상 계정의 일별 도달을 분해 (※ 교육용 시뮬레이션)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추세: 팔로워 성장에 따른 꾸준한 우상향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계절: 주말(일) 피크 — 요일 효과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바이럴 릴스 1건 = 추세가 아니라 잔차로 포착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→ '한 번 터진 것'과 '꾸준한 성장'은 다른 성분, 분리해야 보임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06 · OUR ACCOUNT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우리 계정 14일 예측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1_account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818120" cy="393755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03920" y="1554480"/>
            <a:ext cx="3246120" cy="4709160"/>
          </a:xfrm>
          <a:prstGeom prst="roundRect">
            <a:avLst>
              <a:gd name="adj" fmla="val 5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59952" y="175564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📖  읽는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8759952" y="2212848"/>
            <a:ext cx="274320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359152"/>
            <a:ext cx="27889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분석 기간 도달 +111% 성장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추세 기울기 +26/일 (양수=성장 지속)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바이럴 스파이크가 가라앉아도 기저 추세는 우상향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예측: 완만한 상승 + 주말 피크 반복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E1306C"/>
                </a:solidFill>
                <a:latin typeface="맑은 고딕"/>
              </a:rPr>
              <a:t>—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답: 단발 바이럴에 일희일비 말고 추세 기울기를 보라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0" y="182880"/>
            <a:ext cx="4206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0" b="1">
                <a:solidFill>
                  <a:srgbClr val="2B2B33"/>
                </a:solidFill>
                <a:latin typeface="Segoe U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697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1306C"/>
                </a:solidFill>
                <a:latin typeface="Segoe UI"/>
              </a:rPr>
              <a:t>PART 3 ·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004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</a:rPr>
              <a:t>AI로 트렌드 분석을 '서비스'로 키운다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617720"/>
            <a:ext cx="1371600" cy="38100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07 ·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지금의 서비스, 그리고 다음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536192"/>
            <a:ext cx="10881360" cy="841248"/>
          </a:xfrm>
          <a:prstGeom prst="roundRect">
            <a:avLst>
              <a:gd name="adj" fmla="val 8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91440" cy="841248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27632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1A1A1E"/>
                </a:solidFill>
                <a:latin typeface="맑은 고딕"/>
              </a:rPr>
              <a:t>지금은 '지나간 인기'를 보여준다. 다음은 '다가올 인기'를 예측하고, 이유를 설명하고, 액션까지 제안한다.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33472"/>
            <a:ext cx="10698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AS-IS — 사후 랭킹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해시태그 빈도·좋아요로 '이미 뜬' 태그를 정렬해 보여주는 단계 (현재 Streamlit 앱)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그 한계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지나간 인기라 따라가면 늦고, '왜 떴나·다음은'은 사람이 직접 해석해야 함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TO-BE — AI 트렌드 파트너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떡상 예측 + 자동 인사이트 + 콘텐츠 코파일럿으로 '분석'을 '의사결정'으로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핵심 전환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보여주는 도구 → 대신 판단하고 제안하는 서비스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07 ·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AI 기반 핵심 기능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666670"/>
                </a:solidFill>
                <a:latin typeface="맑은 고딕"/>
              </a:rPr>
              <a:t>각 기능은 앞서 만든 분석 위에 AI 엔진을 얹어 사용자 가치로 바꾼 것.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65960"/>
            <a:ext cx="5349240" cy="1938528"/>
          </a:xfrm>
          <a:prstGeom prst="roundRect">
            <a:avLst>
              <a:gd name="adj" fmla="val 6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30552"/>
            <a:ext cx="91440" cy="1609344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2" y="2148840"/>
            <a:ext cx="475488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1306C"/>
                </a:solidFill>
                <a:latin typeface="맑은 고딕"/>
              </a:rPr>
              <a:t>🚀 떡상 예측 알림</a:t>
            </a:r>
          </a:p>
          <a:p>
            <a:pPr>
              <a:spcBef>
                <a:spcPts val="200"/>
              </a:spcBef>
            </a:pPr>
            <a:r>
              <a:rPr sz="2200" b="1">
                <a:solidFill>
                  <a:srgbClr val="1A1A1E"/>
                </a:solidFill>
                <a:latin typeface="맑은 고딕"/>
              </a:rPr>
              <a:t>다음에 뜰 태그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666670"/>
                </a:solidFill>
                <a:latin typeface="맑은 고딕"/>
              </a:rPr>
              <a:t>3~14일 뒤 상승할 태그를 미리 푸시   엔진: LSTM·TFT 시계열 예측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965960"/>
            <a:ext cx="5349240" cy="1938528"/>
          </a:xfrm>
          <a:prstGeom prst="roundRect">
            <a:avLst>
              <a:gd name="adj" fmla="val 6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2130552"/>
            <a:ext cx="91440" cy="1609344"/>
          </a:xfrm>
          <a:prstGeom prst="rect">
            <a:avLst/>
          </a:prstGeom>
          <a:solidFill>
            <a:srgbClr val="6A3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56832" y="2148840"/>
            <a:ext cx="475488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6A3DB8"/>
                </a:solidFill>
                <a:latin typeface="맑은 고딕"/>
              </a:rPr>
              <a:t>🧭 자동 인사이트</a:t>
            </a:r>
          </a:p>
          <a:p>
            <a:pPr>
              <a:spcBef>
                <a:spcPts val="200"/>
              </a:spcBef>
            </a:pPr>
            <a:r>
              <a:rPr sz="2200" b="1">
                <a:solidFill>
                  <a:srgbClr val="1A1A1E"/>
                </a:solidFill>
                <a:latin typeface="맑은 고딕"/>
              </a:rPr>
              <a:t>왜 · 어디로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666670"/>
                </a:solidFill>
                <a:latin typeface="맑은 고딕"/>
              </a:rPr>
              <a:t>‘#등산 상승, #피크닉 피크 통과’를 근거까지 자동 요약   엔진: RAG + LLM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160520"/>
            <a:ext cx="5349240" cy="1938528"/>
          </a:xfrm>
          <a:prstGeom prst="roundRect">
            <a:avLst>
              <a:gd name="adj" fmla="val 6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4325112"/>
            <a:ext cx="91440" cy="1609344"/>
          </a:xfrm>
          <a:prstGeom prst="rect">
            <a:avLst/>
          </a:prstGeom>
          <a:solidFill>
            <a:srgbClr val="1A1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4343400"/>
            <a:ext cx="475488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A1A1E"/>
                </a:solidFill>
                <a:latin typeface="맑은 고딕"/>
              </a:rPr>
              <a:t>✍️ 콘텐츠 코파일럿</a:t>
            </a:r>
          </a:p>
          <a:p>
            <a:pPr>
              <a:spcBef>
                <a:spcPts val="200"/>
              </a:spcBef>
            </a:pPr>
            <a:r>
              <a:rPr sz="2200" b="1">
                <a:solidFill>
                  <a:srgbClr val="1A1A1E"/>
                </a:solidFill>
                <a:latin typeface="맑은 고딕"/>
              </a:rPr>
              <a:t>바로 쓸 초안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666670"/>
                </a:solidFill>
                <a:latin typeface="맑은 고딕"/>
              </a:rPr>
              <a:t>추천 태그·타이밍에 맞춘 캡션·기획안 자동 생성   엔진: LLM 에이전트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4160520"/>
            <a:ext cx="5349240" cy="1938528"/>
          </a:xfrm>
          <a:prstGeom prst="roundRect">
            <a:avLst>
              <a:gd name="adj" fmla="val 6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4325112"/>
            <a:ext cx="91440" cy="1609344"/>
          </a:xfrm>
          <a:prstGeom prst="rect">
            <a:avLst/>
          </a:prstGeom>
          <a:solidFill>
            <a:srgbClr val="66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56832" y="4343400"/>
            <a:ext cx="475488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666670"/>
                </a:solidFill>
                <a:latin typeface="맑은 고딕"/>
              </a:rPr>
              <a:t>📊 계정 성장 진단</a:t>
            </a:r>
          </a:p>
          <a:p>
            <a:pPr>
              <a:spcBef>
                <a:spcPts val="200"/>
              </a:spcBef>
            </a:pPr>
            <a:r>
              <a:rPr sz="2200" b="1">
                <a:solidFill>
                  <a:srgbClr val="1A1A1E"/>
                </a:solidFill>
                <a:latin typeface="맑은 고딕"/>
              </a:rPr>
              <a:t>진짜 성장?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666670"/>
                </a:solidFill>
                <a:latin typeface="맑은 고딕"/>
              </a:rPr>
              <a:t>단발 바이럴인지 꾸준한 성장인지 분해·예측으로 진단   엔진: 시계열 분해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07 ·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단계별 고도화 로드맵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536192"/>
            <a:ext cx="10881360" cy="841248"/>
          </a:xfrm>
          <a:prstGeom prst="roundRect">
            <a:avLst>
              <a:gd name="adj" fmla="val 8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91440" cy="841248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27632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1A1A1E"/>
                </a:solidFill>
                <a:latin typeface="맑은 고딕"/>
              </a:rPr>
              <a:t>한 번에 다 만들지 않는다 — 지금 가진 자산 위에 단계적으로 얹는다.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33472"/>
            <a:ext cx="10698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Phase 1 — 지금 (분석·시각화)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해시태그 랭킹 + 시계열 분석 대시보드 (이미 보유한 자산)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Phase 2 — 예측 엔진 + 알림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SARIMA→LSTM 예측을 붙여 '떡상 알림' 출시 — 사후에서 선제로 전환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Phase 3 — 지식베이스 + 자동 인사이트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트렌드·성과를 벡터DB(RAG)에 축적 → LLM이 근거 기반 리포트 자동 생성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Phase 4 — 코파일럿 + 개인화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LLM 에이전트가 계정별 맞춤 태그·콘텐츠 제안, 성과 피드백으로 자동 학습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07 ·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기능을 떠받치는 시스템 아키텍처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1927555" cy="2057400"/>
          </a:xfrm>
          <a:prstGeom prst="roundRect">
            <a:avLst>
              <a:gd name="adj" fmla="val 8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1927555" cy="109728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569464"/>
            <a:ext cx="15617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1306C"/>
                </a:solidFill>
                <a:latin typeface="Segoe U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008376"/>
            <a:ext cx="15617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A1A1E"/>
                </a:solidFill>
                <a:latin typeface="맑은 고딕"/>
              </a:rPr>
              <a:t>데이터 수집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520440"/>
            <a:ext cx="15617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66670"/>
                </a:solidFill>
                <a:latin typeface="맑은 고딕"/>
              </a:rPr>
              <a:t>네이버 데이터랩 · 인스타그램 API · 일별 패널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67635" y="3268980"/>
            <a:ext cx="347472" cy="182880"/>
          </a:xfrm>
          <a:prstGeom prst="rightArrow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96819" y="2331720"/>
            <a:ext cx="1927555" cy="2057400"/>
          </a:xfrm>
          <a:prstGeom prst="roundRect">
            <a:avLst>
              <a:gd name="adj" fmla="val 8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96819" y="2331720"/>
            <a:ext cx="1927555" cy="109728"/>
          </a:xfrm>
          <a:prstGeom prst="rect">
            <a:avLst/>
          </a:prstGeom>
          <a:solidFill>
            <a:srgbClr val="6A3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79699" y="2569464"/>
            <a:ext cx="15617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6A3DB8"/>
                </a:solidFill>
                <a:latin typeface="Segoe U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79699" y="3008376"/>
            <a:ext cx="15617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A1A1E"/>
                </a:solidFill>
                <a:latin typeface="맑은 고딕"/>
              </a:rPr>
              <a:t>시계열 예측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79699" y="3520440"/>
            <a:ext cx="15617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66670"/>
                </a:solidFill>
                <a:latin typeface="맑은 고딕"/>
              </a:rPr>
              <a:t>SARIMA · LSTM · TFT 앙상블로 14일 전망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806086" y="3268980"/>
            <a:ext cx="347472" cy="182880"/>
          </a:xfrm>
          <a:prstGeom prst="rightArrow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35270" y="2331720"/>
            <a:ext cx="1927555" cy="2057400"/>
          </a:xfrm>
          <a:prstGeom prst="roundRect">
            <a:avLst>
              <a:gd name="adj" fmla="val 8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35270" y="2331720"/>
            <a:ext cx="1927555" cy="109728"/>
          </a:xfrm>
          <a:prstGeom prst="rect">
            <a:avLst/>
          </a:prstGeom>
          <a:solidFill>
            <a:srgbClr val="1A1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18150" y="2569464"/>
            <a:ext cx="15617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1A1E"/>
                </a:solidFill>
                <a:latin typeface="Segoe U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18150" y="3008376"/>
            <a:ext cx="15617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A1A1E"/>
                </a:solidFill>
                <a:latin typeface="맑은 고딕"/>
              </a:rPr>
              <a:t>지식베이스 (RAG)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18150" y="3520440"/>
            <a:ext cx="15617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66670"/>
                </a:solidFill>
                <a:latin typeface="맑은 고딕"/>
              </a:rPr>
              <a:t>벡터DB: 과거 트렌드 · 캠페인 성과 검색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044537" y="3268980"/>
            <a:ext cx="347472" cy="182880"/>
          </a:xfrm>
          <a:prstGeom prst="rightArrow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73721" y="2331720"/>
            <a:ext cx="1927555" cy="2057400"/>
          </a:xfrm>
          <a:prstGeom prst="roundRect">
            <a:avLst>
              <a:gd name="adj" fmla="val 8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73721" y="2331720"/>
            <a:ext cx="1927555" cy="109728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56601" y="2569464"/>
            <a:ext cx="15617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1306C"/>
                </a:solidFill>
                <a:latin typeface="Segoe U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56601" y="3008376"/>
            <a:ext cx="15617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A1A1E"/>
                </a:solidFill>
                <a:latin typeface="맑은 고딕"/>
              </a:rPr>
              <a:t>LLM 에이전트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56601" y="3520440"/>
            <a:ext cx="15617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66670"/>
                </a:solidFill>
                <a:latin typeface="맑은 고딕"/>
              </a:rPr>
              <a:t>근거 기반 인사이트 · 콘텐츠 초안 생성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282988" y="3268980"/>
            <a:ext cx="347472" cy="182880"/>
          </a:xfrm>
          <a:prstGeom prst="rightArrow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612172" y="2331720"/>
            <a:ext cx="1927555" cy="2057400"/>
          </a:xfrm>
          <a:prstGeom prst="roundRect">
            <a:avLst>
              <a:gd name="adj" fmla="val 8000"/>
            </a:avLst>
          </a:prstGeom>
          <a:solidFill>
            <a:srgbClr val="F6F6F9"/>
          </a:solidFill>
          <a:ln w="12700">
            <a:solidFill>
              <a:srgbClr val="E6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612172" y="2331720"/>
            <a:ext cx="1927555" cy="109728"/>
          </a:xfrm>
          <a:prstGeom prst="rect">
            <a:avLst/>
          </a:prstGeom>
          <a:solidFill>
            <a:srgbClr val="6A3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95052" y="2569464"/>
            <a:ext cx="15617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6A3DB8"/>
                </a:solidFill>
                <a:latin typeface="Segoe UI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95052" y="3008376"/>
            <a:ext cx="15617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A1A1E"/>
                </a:solidFill>
                <a:latin typeface="맑은 고딕"/>
              </a:rPr>
              <a:t>콘텐츠 추천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95052" y="3520440"/>
            <a:ext cx="15617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66670"/>
                </a:solidFill>
                <a:latin typeface="맑은 고딕"/>
              </a:rPr>
              <a:t>태그 · 타이밍 · 조합 액션 제안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4800600"/>
            <a:ext cx="10881360" cy="603504"/>
          </a:xfrm>
          <a:prstGeom prst="roundRect">
            <a:avLst>
              <a:gd name="adj" fmla="val 30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" y="4800600"/>
            <a:ext cx="1033272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>
                <a:solidFill>
                  <a:srgbClr val="E1306C"/>
                </a:solidFill>
                <a:latin typeface="맑은 고딕"/>
              </a:rPr>
              <a:t>↺ 피드백 루프   </a:t>
            </a:r>
            <a:r>
              <a:rPr sz="1250" b="0">
                <a:solidFill>
                  <a:srgbClr val="1A1A1E"/>
                </a:solidFill>
                <a:latin typeface="맑은 고딕"/>
              </a:rPr>
              <a:t>게시 성과를 다시 수집해 예측·추천 모델을 재학습 — 쓸수록 똑똑해지는 서비스.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07 ·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기대 효과 &amp; 차별화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536192"/>
            <a:ext cx="10881360" cy="841248"/>
          </a:xfrm>
          <a:prstGeom prst="roundRect">
            <a:avLst>
              <a:gd name="adj" fmla="val 8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91440" cy="841248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27632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1A1A1E"/>
                </a:solidFill>
                <a:latin typeface="맑은 고딕"/>
              </a:rPr>
              <a:t>왜 이 고도화가 돈이 되나 — 마케터의 시간을 줄이고, 선제적으로 움직이게 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33472"/>
            <a:ext cx="10698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시간 절감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트렌드 리서치·콘텐츠 기획을 분 단위로 — 분석·초안 작성을 AI가 대신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선제 대응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사후 랭킹이 아니라 예측 — 경쟁자보다 먼저 뜨는 태그에 올라탐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근거 있는 의사결정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감이 아니라 데이터 + 근거(RAG)로 — 내부 보고·클라이언트 설득이 쉬워짐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데이터 락인(lock-in)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쓸수록 계정별 성과가 쌓여 추천이 정교해지는 선순환 → 이탈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08 ·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핵심 코드 ①  데이터 → 평활화 → 차분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●  tidy 패널을 날짜×태그 행렬로 (pandas pivot)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755648"/>
            <a:ext cx="10424160" cy="457200"/>
          </a:xfrm>
          <a:prstGeom prst="rect">
            <a:avLst/>
          </a:prstGeom>
          <a:solidFill>
            <a:srgbClr val="1E1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847088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8E8EE"/>
                </a:solidFill>
                <a:latin typeface="Consolas"/>
              </a:rPr>
              <a:t>wide = panel.pivot(index="date", columns="hashtag", values="ratio")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●  이동평균 평활화 — 7일 중심 윈도우가 주간 주기를 상쇄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761488"/>
            <a:ext cx="10424160" cy="457200"/>
          </a:xfrm>
          <a:prstGeom prst="rect">
            <a:avLst/>
          </a:prstGeom>
          <a:solidFill>
            <a:srgbClr val="1E1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852928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8E8EE"/>
                </a:solidFill>
                <a:latin typeface="Consolas"/>
              </a:rPr>
              <a:t>ma7 = s.rolling(7, center=True).mean()   # 추세 + 노이즈 제거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8328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●  1차 차분으로 정상화 (ARIMA의 d=1)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767328"/>
            <a:ext cx="10424160" cy="713232"/>
          </a:xfrm>
          <a:prstGeom prst="rect">
            <a:avLst/>
          </a:prstGeom>
          <a:solidFill>
            <a:srgbClr val="1E1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858768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8E8EE"/>
                </a:solidFill>
                <a:latin typeface="Consolas"/>
              </a:rPr>
              <a:t>diff = s.diff()                          # X_t - X_{t-1}</a:t>
            </a:r>
          </a:p>
          <a:p>
            <a:r>
              <a:rPr sz="1200" b="0">
                <a:solidFill>
                  <a:srgbClr val="E8E8EE"/>
                </a:solidFill>
                <a:latin typeface="Consolas"/>
              </a:rPr>
              <a:t>diff.rolling(28).mean()                  # 평균이 0에 붙는지 진단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64515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●  가법 분해 — 추세는 이동평균, 계절은 '같은 요일끼리 평균'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029200"/>
            <a:ext cx="10424160" cy="969264"/>
          </a:xfrm>
          <a:prstGeom prst="rect">
            <a:avLst/>
          </a:prstGeom>
          <a:solidFill>
            <a:srgbClr val="1E1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51206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8E8EE"/>
                </a:solidFill>
                <a:latin typeface="Consolas"/>
              </a:rPr>
              <a:t>trend    = s.rolling(7, center=True).mean()</a:t>
            </a:r>
          </a:p>
          <a:p>
            <a:r>
              <a:rPr sz="1200" b="0">
                <a:solidFill>
                  <a:srgbClr val="E8E8EE"/>
                </a:solidFill>
                <a:latin typeface="Consolas"/>
              </a:rPr>
              <a:t>seasonal = (s - trend).groupby(s.index.weekday).transform("mean")</a:t>
            </a:r>
          </a:p>
          <a:p>
            <a:r>
              <a:rPr sz="1200" b="0">
                <a:solidFill>
                  <a:srgbClr val="E8E8EE"/>
                </a:solidFill>
                <a:latin typeface="Consolas"/>
              </a:rPr>
              <a:t>residual = s - trend - seasonal          # 백색잡음이면 성공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08 ·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핵심 코드 ②  ACF → 예측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●  표본 ACF 직접 구현 — ρ(k) = γ(k)/γ(0)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755648"/>
            <a:ext cx="10424160" cy="969264"/>
          </a:xfrm>
          <a:prstGeom prst="rect">
            <a:avLst/>
          </a:prstGeom>
          <a:solidFill>
            <a:srgbClr val="1E1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847088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8E8EE"/>
                </a:solidFill>
                <a:latin typeface="Consolas"/>
              </a:rPr>
              <a:t>x = x - x.mean()</a:t>
            </a:r>
          </a:p>
          <a:p>
            <a:r>
              <a:rPr sz="1200" b="0">
                <a:solidFill>
                  <a:srgbClr val="E8E8EE"/>
                </a:solidFill>
                <a:latin typeface="Consolas"/>
              </a:rPr>
              <a:t>rho_k = np.dot(x[:n-k], x[k:]) / np.dot(x, x)</a:t>
            </a:r>
          </a:p>
          <a:p>
            <a:r>
              <a:rPr sz="1200" b="0">
                <a:solidFill>
                  <a:srgbClr val="E8E8EE"/>
                </a:solidFill>
                <a:latin typeface="Consolas"/>
              </a:rPr>
              <a:t>band  = 1.96 / np.sqrt(n)                # 백색잡음 95% 한계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89504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●  선형추세 적합 (최소제곱) + 요일 더미 계절성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273552"/>
            <a:ext cx="10424160" cy="969264"/>
          </a:xfrm>
          <a:prstGeom prst="rect">
            <a:avLst/>
          </a:prstGeom>
          <a:solidFill>
            <a:srgbClr val="1E1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364992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8E8EE"/>
                </a:solidFill>
                <a:latin typeface="Consolas"/>
              </a:rPr>
              <a:t>coef = np.polyfit(t, s.values, 1)        # 기울기·절편</a:t>
            </a:r>
          </a:p>
          <a:p>
            <a:r>
              <a:rPr sz="1200" b="0">
                <a:solidFill>
                  <a:srgbClr val="E8E8EE"/>
                </a:solidFill>
                <a:latin typeface="Consolas"/>
              </a:rPr>
              <a:t>seasonal = pd.Series(s.values - np.polyval(coef, t)) \</a:t>
            </a:r>
          </a:p>
          <a:p>
            <a:r>
              <a:rPr sz="1200" b="0">
                <a:solidFill>
                  <a:srgbClr val="E8E8EE"/>
                </a:solidFill>
                <a:latin typeface="Consolas"/>
              </a:rPr>
              <a:t>             .groupby(s.index.weekday).mean()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0740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E1306C"/>
                </a:solidFill>
                <a:latin typeface="맑은 고딕"/>
              </a:rPr>
              <a:t>●  14일 외삽 + 95% 예측구간 (잔차 표준편차 기반)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791456"/>
            <a:ext cx="10424160" cy="713232"/>
          </a:xfrm>
          <a:prstGeom prst="rect">
            <a:avLst/>
          </a:prstGeom>
          <a:solidFill>
            <a:srgbClr val="1E1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882896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E8E8EE"/>
                </a:solidFill>
                <a:latin typeface="Consolas"/>
              </a:rPr>
              <a:t>future = np.polyval(coef, future_t) + seasonal[future_weekday]</a:t>
            </a:r>
          </a:p>
          <a:p>
            <a:r>
              <a:rPr sz="1200" b="0">
                <a:solidFill>
                  <a:srgbClr val="E8E8EE"/>
                </a:solidFill>
                <a:latin typeface="Consolas"/>
              </a:rPr>
              <a:t>lo, hi = future - 1.96*resid_std, future + 1.96*resid_std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E1306C"/>
                </a:solidFill>
                <a:latin typeface="Segoe UI"/>
              </a:rPr>
              <a:t>08 ·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E"/>
                </a:solidFill>
                <a:latin typeface="맑은 고딕"/>
              </a:rPr>
              <a:t>한계와 재현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298448"/>
            <a:ext cx="10881360" cy="12700"/>
          </a:xfrm>
          <a:prstGeom prst="rect">
            <a:avLst/>
          </a:prstGeom>
          <a:solidFill>
            <a:srgbClr val="E6E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536192"/>
            <a:ext cx="10881360" cy="841248"/>
          </a:xfrm>
          <a:prstGeom prst="roundRect">
            <a:avLst>
              <a:gd name="adj" fmla="val 8000"/>
            </a:avLst>
          </a:prstGeom>
          <a:solidFill>
            <a:srgbClr val="FBE9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91440" cy="841248"/>
          </a:xfrm>
          <a:prstGeom prst="rect">
            <a:avLst/>
          </a:prstGeom>
          <a:solidFill>
            <a:srgbClr val="E130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27632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1A1A1E"/>
                </a:solidFill>
                <a:latin typeface="맑은 고딕"/>
              </a:rPr>
              <a:t>정직한 캐비앗: 이 분석이 말할 수 있는 것과 없는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33472"/>
            <a:ext cx="106984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프록시 한계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네이버 검색량 ≠ 인스타그램 게시량 — '한국 사용자의 주제 관심도'의 대리지표로 해석해야 함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상대값 한계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데이터랩 ratio는 요청 내 정규화 — 태그 간 절대 규모 비교 불가, 시간 변화·모멘텀 비교만 유효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실시간성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2026-06-11 수집 스냅샷 — '실시간 스트림'이 아니라 주기 재수집으로 갱신하는 구조 (전일까지 일별 제공)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계정 시뮬레이션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'우리 계정' 도달은 계정 인사이트 공개 API가 없어 합성한 교육용 데이터 — 분해/예측 방법론 시연용이며 실측 아님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모형 한계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선형 베이스라인은 외생 이벤트·추세 전환을 늦게 반영(백테스트 MAE에서 SARIMA에 열세) — 단순성/해석력과 정확도의 트레이드오프</a:t>
            </a:r>
          </a:p>
          <a:p>
            <a:pPr>
              <a:spcAft>
                <a:spcPts val="300"/>
              </a:spcAft>
            </a:pPr>
            <a:r>
              <a:rPr sz="1600" b="1">
                <a:solidFill>
                  <a:srgbClr val="1A1A1E"/>
                </a:solidFill>
                <a:latin typeface="맑은 고딕"/>
              </a:rPr>
              <a:t>재현</a:t>
            </a:r>
          </a:p>
          <a:p>
            <a:pPr>
              <a:spcAft>
                <a:spcPts val="1500"/>
              </a:spcAft>
            </a:pPr>
            <a:r>
              <a:rPr sz="1350" b="0">
                <a:solidFill>
                  <a:srgbClr val="666670"/>
                </a:solidFill>
                <a:latin typeface="맑은 고딕"/>
              </a:rPr>
              <a:t>pip install -r presentation/requirements.txt &amp;&amp; python presentation/build_deck.py — CSV·시드 고정으로 결정론적 재생성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37376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9A9AA2"/>
                </a:solidFill>
                <a:latin typeface="맑은 고딕"/>
              </a:rPr>
              <a:t>시계열 데이터 분석  ·  한국 해시태그 트렌드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43737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E1306C"/>
                </a:solidFill>
                <a:latin typeface="맑은 고딕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
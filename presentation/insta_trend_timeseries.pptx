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6B6B6B"/>
                </a:solidFill>
                <a:latin typeface="맑은 고딕"/>
              </a:rPr>
              <a:t>한국 인스타그램 해시태그</a:t>
            </a:r>
          </a:p>
          <a:p>
            <a:r>
              <a:rPr sz="5400" b="1">
                <a:solidFill>
                  <a:srgbClr val="222222"/>
                </a:solidFill>
                <a:latin typeface="맑은 고딕"/>
              </a:rPr>
              <a:t>시계열 데이터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6B6B6B"/>
                </a:solidFill>
                <a:latin typeface="맑은 고딕"/>
              </a:rPr>
              <a:t>네이버 데이터랩 실데이터로 본 2026년 상반기 해시태그 트렌드</a:t>
            </a:r>
          </a:p>
          <a:p>
            <a:r>
              <a:rPr sz="1500" b="0">
                <a:solidFill>
                  <a:srgbClr val="6B6B6B"/>
                </a:solidFill>
                <a:latin typeface="맑은 고딕"/>
              </a:rPr>
              <a:t>— 정상성 · 자기상관 · 분해 · 예측: 수업에서 배운 시계열 이론의 실전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기준일 2026년 6월 11일 (KST)  ·  분석 기간 2026-01-01 ~ 2026-06-10 (161일)  ·  해시태그 9개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544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분석 개요와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질문 · 네이버 데이터랩 실데이터 ·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214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이론: 시계열의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확률과정, 구성요소, 가법/승법 분해 모형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883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883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이론: 정상성과 차분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8833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약정상성 3조건, 단위근, 1차 차분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552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이론: 자기상관과 ARIMA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25526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ACF/PACF, 백색잡음, AR·MA·ARIMA(p,d,q)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2219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82219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분석: 평활화 · 정상성 · ACF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82219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이론을 실데이터로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분석: 분해 · 계절성 · 모멘텀 · 예측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3891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추세/요일 효과 분리와 14일 외삽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5604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95604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결론: 지금 뜨는 해시태그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9560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2026-06-11 기준 트렌딩 태그와 활용 전략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2297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52297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부록: 핵심 코드 · 한계 · 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52297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pandas/numpy 구현과 데이터 캐비앳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분석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질문: 2026년 6월 11일 현재, 한국에서 어떤 해시태그가 뜨고 있고 — 어디로 가는가?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왜 시계열인가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한 시점의 인기 순위는 '지금 큰 것'만 보여줌 — 추세·계절성·모멘텀을 분리해야 '뜨는 것'과 '식는 것'을 구분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데이터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네이버 데이터랩 검색어트렌드 실데이터 — 한국 사용자의 일별 검색 관심도 (2026-06-11 수집)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프록시 가정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인스타그램은 해시태그 시계열 공개 API가 없음 → 같은 주제의 네이버 검색량을 한국 관심도의 대리지표로 사용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분석 절차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EDA → 평활화 → 정상성 진단 → ACF → 분해 → 계절성/모멘텀 → 예측 → 액션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01 ·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2026-01-01 ~ 2026-06-10 · 161일 · 일 단위 · 라이프스타일 해시태그 9개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수집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네이버 데이터랩 검색어트렌드 API — 키워드그룹별 일별 ratio (그룹 예: 러닝=러닝+러닝크루)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대상 태그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#러닝 #캠핑 #등산 #카페 #국내여행 #다이어트 #피크닉 #클라이밍 #빵지순례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ratio의 의미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요청 내 최대값=100인 상대값 → 시리즈 간 절대 비교는 불가, 시리즈 내 시간 변화 분석은 유효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형태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tidy 패널 (date, hashtag, ratio) → pivot하여 날짜×태그 행렬로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1 ·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시계열 이론 — 수업에서 배운 도구들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02 · STOCHASTIC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시계열 데이터란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정의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시간 순서로 관측된 확률변수의 열 — 확률과정 {X_t}의 한 실현(realization)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핵심 성질: 시간 의존성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관측치가 i.i.d.가 아님 — 오늘 값이 어제 값과 상관 → 고전 통계의 독립 가정이 무너짐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왜 따로 배우는가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회귀처럼 다루면 표준오차·검정이 모두 왜곡 — 자기상관을 모형 안에 넣어야 함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우리 데이터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해시태그별 일별 관심도 161개 관측치 = 일 단위 이산 시계열 9개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확률과정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{ X_t : t = 1, 2, ..., n 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자기공분산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γ(k) = Cov(X_t, X_{t+k})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시간 의존성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Corr(X_t, X_{t-1}) ≠ 0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표본 (우리 데이터)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n = 161일, 9개 시리즈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02 ·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구성요소와 분해 모형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4대 구성요소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추세(T) 장기 방향 · 계절(S) 고정 주기 반복 · 순환(C) 비고정 장주기 · 불규칙(R) 잔차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가법 모형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변동 폭이 수준과 무관하게 일정할 때 — 성분을 더해서 관측을 설명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승법 모형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수준이 커질수록 변동도 커질 때 — 로그 변환하면 가법으로 환원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추정 방법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추세는 중심 이동평균, 계절성분은 '같은 요일끼리 평균', 잔차는 나머지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가법 모형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T_t + S_t + R_t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승법 모형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T_t × S_t × R_t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로그 변환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log X_t = log T_t + log S_t + log R_t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추세 추정 (period=7)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T_t = (1/7) Σ X_{t+j}, j=-3..3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계절 추정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S_t = mean( X−T | 같은 요일 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03 · STATIONARITY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정상성과 차분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약정상성 3조건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① 평균이 시간에 불변 ② 분산이 유한·불변 ③ 자기공분산이 시차 k에만 의존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왜 중요한가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ARMA류 모형·ACF 해석·예측 이론이 모두 정상성 위에서 성립 — 비정상 계열은 가짜 상관(spurious) 위험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진단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시각: 롤링 평균/분산이 움직이는가 · ACF가 천천히 감쇠하는가 / 검정: ADF 단위근 검정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처방: 차분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1차 차분으로 추세 제거, 계절차분(lag 7)으로 주기 제거 — ARIMA의 d가 바로 차분 횟수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약정상성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E[X_t] = μ,  Var(X_t) = σ² &lt; ∞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/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Cov(X_t, X_{t+k}) = γ(k)  ∀t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1차 차분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∇X_t = X_t − X_{t-1}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계절 차분 (주간)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∇₇X_t = X_t − X_{t-7}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랜덤워크(비정상)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X_{t-1} + ε_t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04 · ACF &amp; ARIMA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자기상관 · 백색잡음 · ARIMA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ACF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시차 k에서 자기 자신과의 상관 ρ(k) — 추세면 느리게 감쇠, 주기 s면 lag s마다 스파이크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백색잡음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평균 0, 상관 0인 순수 잡음 — 잔차가 백색잡음이면 모형이 구조를 다 흡수했다는 신호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판정 기준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표본 ACF가 ±1.96/√n 밴드 안이면 해당 시차 상관은 유의하지 않음 (95%)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ARIMA(p,d,q)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AR(p) 과거 값 회귀 + I(d) 차분 + MA(q) 과거 충격 회귀 — 차수는 ACF/PACF로 식별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우리의 선택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수업 범위의 해석 가능한 기본형: 선형추세 + 요일 더미 → ARIMA 대비 단순하지만 구조가 투명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자기상관함수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ρ(k) = γ(k) / γ(0)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표본 ACF 한계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±1.96 / √n  (n=161 → ±0.155)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백색잡음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ε_t ~ WN(0, σ²)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AR(p)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Σ φ_i X_{t-i} + ε_t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MA(q)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ε_t + Σ θ_j ε_{t-j}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ARIMA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∇^d X_t 가 ARMA(p,q)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실데이터 분석 — 이론을 데이터에 적용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RAW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원시 시계열 관찰</a:t>
            </a:r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9개 태그의 일별 관심도 원계열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톱니 모양 = 주 7일 계절성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#캠핑·#피크닉: 봄에 큰 산(계절 추세)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#카페: 1월 고점 후 하락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5월 중순 #등산 스파이크 = 연휴 외생 이벤트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SMOOTHING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이동평균 평활화</a:t>
            </a:r>
          </a:p>
        </p:txBody>
      </p:sp>
      <p:pic>
        <p:nvPicPr>
          <p:cNvPr id="5" name="Picture 4" descr="02_moving_a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포커스: #등산 (6월 모멘텀 1위)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회색 = 원계열(노이즈)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7일 MA = 주간 주기 상쇄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28일 MA = 장기 추세만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1~5월 꾸준한 우상향 확인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STATIONARITY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정상성 진단과 차분</a:t>
            </a:r>
          </a:p>
        </p:txBody>
      </p:sp>
      <p:pic>
        <p:nvPicPr>
          <p:cNvPr id="5" name="Picture 4" descr="03_station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46840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위: 롤링 평균이 계속 상승 → 평균 비불변 = 비정상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롤링 표준편차도 5월에 점프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아래: 1차 차분 후 평균이 0에 고정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차분으로 (약)정상성 확보 → ARIMA의 d=1에 해당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ACF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자기상관함수(ACF)</a:t>
            </a:r>
          </a:p>
        </p:txBody>
      </p:sp>
      <p:pic>
        <p:nvPicPr>
          <p:cNvPr id="5" name="Picture 4" descr="04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5053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왼쪽(원계열): 천천히 감쇠 → 추세 지배 = 비정상 신호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오른쪽(차분): lag 7·14·21 스파이크 → 주간 계절성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점선 = ±1.96/√n 백색잡음 한계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이론 그대로: 차분이 추세를 지우자 주기가 드러남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가법 분해</a:t>
            </a:r>
          </a:p>
        </p:txBody>
      </p:sp>
      <p:pic>
        <p:nvPicPr>
          <p:cNvPr id="5" name="Picture 4" descr="05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50395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X = 추세 + 계절 + 잔차로 분리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추세: 1월~5월 +60% 수준 상승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계절: 주말 양(+), 주중 음(−) 규칙 진동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잔차: 5월 연휴 스파이크 외엔 백색잡음에 가까움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SEASONALITY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주간 계절성 프로파일</a:t>
            </a:r>
          </a:p>
        </p:txBody>
      </p:sp>
      <p:pic>
        <p:nvPicPr>
          <p:cNvPr id="5" name="Picture 4" descr="06_week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요일 평균을 자기 평균=100으로 정규화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#등산·#피크닉·#캠핑: 주말(토) 피크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#다이어트: 월요일 피크 — '월요일 결심' 효과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게시 타이밍 설계의 직접 근거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성장 모멘텀</a:t>
            </a:r>
          </a:p>
        </p:txBody>
      </p:sp>
      <p:pic>
        <p:nvPicPr>
          <p:cNvPr id="5" name="Picture 4" descr="07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1월 첫 주=100 지수화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연초 대비: #피크닉 +70% · #캠핑 +61% · #등산 +48%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최근 30일: #등산 +7.9% · #클라이밍 +5.5% 만 상승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봄 태그(피크닉·캠핑)는 5월 피크 통과 후 하락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14일 예측</a:t>
            </a:r>
          </a:p>
        </p:txBody>
      </p:sp>
      <p:pic>
        <p:nvPicPr>
          <p:cNvPr id="5" name="Picture 4" descr="08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71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모형: 선형추세 + 요일 계절성 (최근 8주 적합)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점선 = 6/11~6/24 예측 경로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음영 = 95% 예측구간 (잔차 분산 기반)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주말마다 솟는 요일 패턴까지 재현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그래서, 지금 뭘 써야 하나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07 · NOW TRENDING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2026-06-11 기준 트렌딩 해시태그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128016" cy="192024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8191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📈 지금 상승 중 (최근 30일 모멘텀 +)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#등산  #클라이밍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등산 +7.9%, 클라이밍 +5.5% — 초여름에도 모멘텀 유지, 지금 올라탈 태그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41732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417320"/>
            <a:ext cx="128016" cy="192024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8191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33AB4"/>
                </a:solidFill>
                <a:latin typeface="맑은 고딕"/>
              </a:rPr>
              <a:t>🌊 피크 통과 (계절성 하락 전환)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#피크닉  #캠핑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연초 대비 +70%/+61%로 컸지만 최근 30일 -21%/-17% — 봄 수요 종료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61188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611880"/>
            <a:ext cx="128016" cy="192024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7647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맑은 고딕"/>
              </a:rPr>
              <a:t>💪 안정 수요 (시즌 진입)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#다이어트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최근 30일 +0.4%로 하락 멈춤 — 여름 직전 수요 재점화 구간, 월요일 피크 활용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361188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3611880"/>
            <a:ext cx="128016" cy="192024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77647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B6B6B"/>
                </a:solidFill>
                <a:latin typeface="맑은 고딕"/>
              </a:rPr>
              <a:t>📉 약세 지속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#카페  #국내여행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연초 대비 -50%/-15% — 단독 태그보다 상승 태그와 조합 권장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07 ·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콘텐츠 활용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시계열 인사이트 → 게시물 전략: 무엇을(태그), 언제(요일), 어떻게(조합)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주력 태그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#등산 #클라이밍 중심 콘텐츠 — 상승 모멘텀 구간에 게시해 노출 탄력 확보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게시 타이밍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아웃도어 태그는 금~토 오전(주말 피크 직전), #다이어트는 일 저녁~월 오전('월요일 결심' 수요 선점)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태그 조합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상승 태그 + 안정 태그 묶기: #등산 × #다이어트(여름 준비), #클라이밍 × #카페(실내 연계)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리스크 관리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#피크닉·#캠핑은 하락 전환 — 신규 기획 보류, 기존 콘텐츠는 내년 3~4월 재활용 예약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운영 루프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데이터랩 재수집(주 1회) → 모멘텀 갱신 → 태그 포트폴리오 리밸런싱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08 ·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핵심 코드 ①  데이터 → 평활화 → 차분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tidy 패널을 날짜×태그 행렬로 (pandas pivot)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457200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wide = panel.pivot(index="date", columns="hashtag", values="ratio")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이동평균 평활화 — 7일 중심 윈도우가 주간 주기를 상쇄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61488"/>
            <a:ext cx="10424160" cy="457200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5292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ma7 = s.rolling(7, center=True).mean()   # 추세 + 노이즈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1차 차분으로 정상화 (ARIMA의 d=1)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67328"/>
            <a:ext cx="10424160" cy="713232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858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diff = s.diff()                          # X_t - X_{t-1}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diff.rolling(28).mean()                  # 평균이 0에 붙는지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451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가법 분해 — 추세는 이동평균, 계절은 '같은 요일끼리 평균'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424160" cy="969264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trend    = s.rolling(7, center=True).mean()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(s - trend).groupby(s.index.weekday).transform("mean")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residual = s - trend - seasonal          # 백색잡음이면 성공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08 ·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핵심 코드 ②  ACF →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표본 ACF 직접 구현 — ρ(k) = γ(k)/γ(0)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969264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x = x - x.mean()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rho_k = np.dot(x[:n-k], x[k:]) / np.dot(x, x)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band  = 1.96 / np.sqrt(n)                # 백색잡음 95%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95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선형추세 적합 (최소제곱) + 요일 더미 계절성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73552"/>
            <a:ext cx="10424160" cy="969264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64992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coef = np.polyfit(t, s.values, 1)        # 기울기·절편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pd.Series(s.values - np.polyval(coef, t)) \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             .groupby(s.index.weekday).mean()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074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14일 외삽 + 95% 예측구간 (잔차 표준편차 기반)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91456"/>
            <a:ext cx="10424160" cy="713232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8828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future = np.polyval(coef, future_t) + seasonal[future_weekday]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lo, hi = future - 1.96*resid_std, future + 1.96*resid_std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08 ·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한계와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정직한 캐비앗: 이 분석이 말할 수 있는 것과 없는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프록시 한계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네이버 검색량 ≠ 인스타그램 게시량 — '한국 사용자의 주제 관심도'의 대리지표로 해석해야 함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상대값 한계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데이터랩 ratio는 요청 내 정규화 — 태그 간 절대 규모 비교 불가, 시간 변화·모멘텀 비교만 유효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실시간성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2026-06-11 수집 스냅샷 — '실시간 스트림'이 아니라 주기 재수집으로 갱신하는 구조 (전일까지 일별 제공)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모형 한계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선형추세+요일 더미는 외생 이벤트(연휴 스파이크)·추세 전환을 늦게 반영 — SARIMA·지수평활이 다음 단계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재현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pip install -r presentation/requirements.txt &amp;&amp; python presentation/build_deck.py — CSV 고정으로 결정론적 재생성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
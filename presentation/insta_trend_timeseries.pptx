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600200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550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1306C"/>
                </a:solidFill>
                <a:latin typeface="Segoe UI"/>
              </a:rPr>
              <a:t>TIME-SERIES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666670"/>
                </a:solidFill>
                <a:latin typeface="맑은 고딕"/>
              </a:rPr>
              <a:t>한국 인스타그램 해시태그</a:t>
            </a:r>
          </a:p>
          <a:p>
            <a:pPr>
              <a:spcBef>
                <a:spcPts val="400"/>
              </a:spcBef>
            </a:pPr>
            <a:r>
              <a:rPr sz="5600" b="1">
                <a:solidFill>
                  <a:srgbClr val="1A1A1E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666670"/>
                </a:solidFill>
                <a:latin typeface="맑은 고딕"/>
              </a:rPr>
              <a:t>네이버 데이터랩 실데이터로 본 2026년 상반기 트렌드 — 무엇이 뜨고, 어디로 가는가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486400"/>
            <a:ext cx="59436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9A9AA2"/>
                </a:solidFill>
                <a:latin typeface="맑은 고딕"/>
              </a:rPr>
              <a:t>기준일 2026년 6월 11일 (KST)    분석 기간 2026-01-01 ~ 2026-06-10 (161일)    해시태그 9개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9105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55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문제 정의와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3677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마케터의 고민 · 네이버 데이터랩 실데이터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066544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5798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7627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0370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겹친 신호 · 추세 걷어내기 · 반복 패턴 찾기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63347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788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743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706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평활화 · 정상성 · 분해 · 계절성 · 예측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200400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291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모델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37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선형 베이스라인 vs SARIMA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767328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3858768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9227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87705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결론: 지금 뜨는 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04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2026-06-11 트렌딩 태그와 활용 전략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4334256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44256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4897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4439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우리 계정은 어떻게 될까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4714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도달 분해 · 14일 예측으로 답하기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" y="4901184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99262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056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50109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AI로 확장하기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03834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LSTM · Transformer · RAG · LLM 에이전트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546811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77240" y="555955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623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577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부록: 코드 · 한계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052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구현 요약과 데이터 캐비앗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문제 정의 — 마케터의 고민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“다음 달에 어떤 해시태그가 떡상할까? 우리 계정 도달은 오를까, 꺾일까?” — 감으로는 답할 수 없는 질문들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“어떤 태그가 떡상할까?”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인기 순위는 '이미 큰 것'만 보여줌 — 순위에 올라온 시점은 대개 피크 직전이라 따라 들어가면 늦음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“우리 계정은 어떻게 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도달·팔로워 그래프가 오르는 중인지, 꺾이는 중인지, 그냥 요일 출렁임인지 눈으로는 구분 불가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“왜 예측이 어렵나?”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관심도 = 추세 + 계절성 + 이벤트 + 노이즈가 섞인 신호 — 분리하지 않으면 노이즈를 트렌드로 오독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이 발표의 제안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시계열 분해로 신호를 성분별로 나누면 '진짜 상승'·'피크 통과'·'단순 요일 효과'를 데이터로 구분할 수 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분석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질문: 2026년 6월 11일 현재, 한국에서 어떤 해시태그가 뜨고 있고 — 어디로 가는가?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왜 시계열인가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한 시점의 인기 순위는 '지금 큰 것'만 보여줌 — 추세·계절성·모멘텀을 분리해야 '뜨는 것'과 '식는 것'을 구분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데이터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실데이터 — 한국 사용자의 일별 검색 관심도 (2026-06-11 수집)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가정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인스타그램은 해시태그 시계열 공개 API가 없음 → 같은 주제의 네이버 검색량을 한국 관심도의 대리지표로 사용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분석 절차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EDA → 평활화 → 정상성 진단 → ACF → 분해 → 계절성/모멘텀 → 예측 → 액션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데이터셋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2026-01-01 ~ 2026-06-10 · 161일 · 일 단위 · 라이프스타일 해시태그 9개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수집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API — 키워드그룹별 일별 ratio (그룹 예: 러닝=러닝+러닝크루)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대상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#러닝 #캠핑 #등산 #카페 #국내여행 #다이어트 #피크닉 #클라이밍 #빵지순례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ratio의 의미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요청 내 최대값=100인 상대값 → 시리즈 간 절대 비교는 불가, 시리즈 내 시간 변화 분석은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형태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tidy 패널 (date, hashtag, ratio) → pivot하여 날짜×태그 행렬로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 · INTUITION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① 시계열은 '겹쳐진 신호'다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하나의 그래프처럼 보이지만, 사실은 여러 신호가 포개진 결과다.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노래 한 곡 = 멜로디 + 비트 + 잡음. 시계열도 추세 + 주기 + 우연이 합쳐진 소리다.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추세 (장기 방향)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팔로워가 늘듯 천천히 오르내리는 큰 흐름. '이 태그가 뜨는가, 식는가'를 결정.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계절성 (반복 리듬)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매주 주말마다 솟는 규칙적 패턴. 달력만 봐도 예상되는 출렁임.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불규칙 (우연·이벤트)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연휴·바이럴처럼 설명 안 되는 잡음과 깜짝 사건. 예측이 어려운 부분.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관측 = 추세(T) + 계절(S) + 불규칙(R)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② 비교하려면 '추세를 걷어내라'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값이 계속 커지면 어제와 오늘을 그대로 비교할 수 없다 — 기준선이 움직이니까.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키 자체가 아니라 '어제보다 몇 cm 자랐나'를 보면, 성장 속도를 공정하게 비교할 수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비정상 (기준선이 이동)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평균이 시간에 따라 움직이는 상태. 추세 때문에 '가짜 상관'에 속기 쉽다.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차분 = 어제와의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Xₜ − Xₜ₋₁ 로 바꾸면 추세가 사라지고 변화량만 남는다.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⚖️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정상성 (안정된 신호)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평균·변동이 일정해진 상태. 그래야 패턴 분석과 예측이 신뢰성을 가진다.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차분  ∇Xₜ = Xₜ − Xₜ₋₁    (추세 제거)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③ '같은 패턴이 반복되나?' — 자기상관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오늘 값이 7일 전과 닮았는가? 닮은 정도를 시차별로 재면 숨은 리듬이 드러난다.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요일 장사 같다 — 이번 주 토요일 매출은 지난 토요일과 닮는다. 그 '닮음'이 자기상관.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자기상관 (ACF)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며칠 전 값과 얼마나 닮았는지 시차별로 측정. lag 7에서 튀면 '주간 리듬' 존재.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백색잡음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아무 패턴 없는 순수 잡음. 분석 후 남은 찌꺼기가 여기에 가까우면 잘 설명한 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예측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추세+요일 패턴을 학습해 미래로 연장. 더 정교한 버전이 ARIMA·SARIMA.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자기상관  ρ(k) = corr(Xₜ, Xₜ₋ₖ)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RAW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원시 시계열 관찰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9개 태그의 일별 관심도 원계열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톱니 모양 = 주 7일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#캠핑·#피크닉: 봄에 큰 산(계절 추세)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#카페: 1월 고점 후 하락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5월 중순 #등산 스파이크 = 연휴 외생 이벤트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SMOOTHING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이동평균 평활화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포커스: #등산 (6월 모멘텀 1위)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회색 = 원계열(노이즈)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7일 MA = 주간 주기 상쇄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28일 MA = 장기 추세만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1~5월 꾸준한 우상향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STATIONARITY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정상성 진단과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station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4711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위: 롤링 평균이 계속 상승 → 평균 비불변 = 비정상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롤링 표준편차도 5월에 점프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아래: 1차 차분 후 평균이 0에 고정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차분으로 (약)정상성 확보 → ARIMA의 d=1에 해당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ACF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자기상관함수(ACF)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525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왼쪽(원계열): 천천히 감쇠 → 추세 지배 = 비정상 신호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오른쪽(차분): lag 7·14·21 스파이크 → 주간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±1.96/√n 백색잡음 한계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이론 그대로: 차분이 추세를 지우자 주기가 드러남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가법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69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X = 추세 + 계절 + 잔차로 분리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1월~5월 +60% 수준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 양(+), 주중 음(−) 규칙 진동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잔차: 5월 연휴 스파이크 외엔 백색잡음에 가까움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SEASONALITY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주간 계절성 프로파일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요일 평균을 자기 평균=100으로 정규화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#등산·#피크닉·#캠핑: 주말(토) 피크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#다이어트: 월요일 피크 — '월요일 결심'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게시 타이밍 설계의 직접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성장 모멘텀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1월 첫 주=100 지수화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연초 대비: #피크닉 +70% · #캠핑 +61% · #등산 +48%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최근 30일: #등산 +7.9% · #클라이밍 +5.5% 만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봄 태그(피크닉·캠핑)는 5월 피크 통과 후 하락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401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모형: 선형추세 + 요일 계절성 (최근 8주 적합)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6/11~6/24 예측 경로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음영 = 95% 예측구간 (잔차 분산 기반)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주말마다 솟는 요일 패턴까지 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04 ·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모델 비교 — 베이스라인 vs SARIMA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arim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분홍 = 선형추세+요일더미(수업용 기본형)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검정 = SARIMA(1,1,1)(1,1,1)₇ — 차분·AR·MA·계절을 모두 추정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홀드아웃 백테스트(마지막 14일): 평균절대오차 SARIMA 4.85 &lt; 베이스라인 5.65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SARIMA가 ~14% 더 정확 — 다만 해석은 베이스라인이 더 투명(추세·요일 분리)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교훈: 단순 모델로 '구조 이해', SARIMA로 '정확도' — 목적에 따라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그래서, 지금 뭘 써야 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NOW TRENDING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2026-06-11 기준 트렌딩 해시태그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91440" cy="1609344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1306C"/>
                </a:solidFill>
                <a:latin typeface="맑은 고딕"/>
              </a:rPr>
              <a:t>📈 지금 상승 중 (최근 30일 모멘텀 +)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#등산  #클라이밍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등산 +7.9%, 클라이밍 +5.5% — 초여름에도 모멘텀 유지, 지금 올라탈 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91440" cy="1609344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A3DB8"/>
                </a:solidFill>
                <a:latin typeface="맑은 고딕"/>
              </a:rPr>
              <a:t>🌊 피크 통과 (계절성 하락 전환)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#피크닉  #캠핑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+70%/+61%로 컸지만 최근 30일 -21%/-17% — 봄 수요 종료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91440" cy="1609344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1A1E"/>
                </a:solidFill>
                <a:latin typeface="맑은 고딕"/>
              </a:rPr>
              <a:t>💪 안정 수요 (시즌 진입)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#다이어트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최근 30일 +0.4%로 하락 멈춤 — 여름 직전 수요 재점화 구간, 월요일 피크 활용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91440" cy="1609344"/>
          </a:xfrm>
          <a:prstGeom prst="rect">
            <a:avLst/>
          </a:prstGeom>
          <a:solidFill>
            <a:srgbClr val="66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66670"/>
                </a:solidFill>
                <a:latin typeface="맑은 고딕"/>
              </a:rPr>
              <a:t>📉 약세 지속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#카페  #국내여행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-50%/-15% — 단독 태그보다 상승 태그와 조합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콘텐츠 활용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시계열 인사이트 → 게시물 전략: 무엇을(태그), 언제(요일), 어떻게(조합)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주력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#등산 #클라이밍 중심 콘텐츠 — 상승 모멘텀 구간에 게시해 노출 탄력 확보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게시 타이밍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아웃도어 태그는 금~토 오전(주말 피크 직전), #다이어트는 일 저녁~월 오전('월요일 결심' 수요 선점)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태그 조합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상승 태그 + 안정 태그 묶기: #등산 × #다이어트(여름 준비), #클라이밍 × #카페(실내 연계)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리스크 관리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#피크닉·#캠핑은 하락 전환 — 신규 기획 보류, 기존 콘텐츠는 내년 3~4월 재활용 예약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운영 루프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재수집(주 1회) → 모멘텀 갱신 → 태그 포트폴리오 리밸런싱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되돌아온 질문: 우리 계정은 어떻게 될까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account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22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가상 계정의 일별 도달을 분해 (※ 교육용 시뮬레이션)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팔로워 성장에 따른 꾸준한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주말(일) 피크 — 요일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릴스 1건 = 추세가 아니라 잔차로 포착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→ '한 번 터진 것'과 '꾸준한 성장'은 다른 성분, 분리해야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우리 계정 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account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75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분석 기간 도달 +111% 성장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 기울기 +26/일 (양수=성장 지속)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스파이크가 가라앉아도 기저 추세는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예측: 완만한 상승 + 주말 피크 반복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답: 단발 바이럴에 일희일비 말고 추세 기울기를 보라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3 · AI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통계를 넘어, AI로 확장하기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WHY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왜 딥러닝·AI인가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SARIMA까지는 '선형 + 정상성' 가정 위에 서 있다. 현실의 트렌드는 그보다 복잡하다.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비선형 패턴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바이럴은 지수적으로 터지고 사그라든다 — 선형 모델로는 그 곡선을 못 따라감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장기 기억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‘작년 이맘때’ 같은 먼 과거 의존성 — ARIMA의 짧은 시차로는 포착 한계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다변량·교차효과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태그끼리 서로 끌고 미는 관계, 날씨·이벤트 등 외생 변수까지 동시 학습 필요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정형 + 비정형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수치 시계열뿐 아니라 캡션·댓글 텍스트까지 → 딥러닝·LLM의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LSTM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LSTM — 시퀀스를 기억하는 신경망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RNN은 긴 시퀀스에서 옛 정보를 잊는다. LSTM은 '게이트'로 무엇을 기억·망각할지 학습한다.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기억의 수도꼭지 3개 — 버릴 것(forget), 새로 담을 것(input), 내보낼 것(output)을 그때그때 조절.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RNN의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시점을 거치며 기울기가 소실 → 먼 과거의 신호가 흐려지는 '장기 의존성' 문제.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LSTM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셀 상태 + forget·input·output 게이트로 장기 기억을 유지/갱신. (변형: GRU)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우리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9개 해시태그 × 외생 변수를 한 모델로 학습해 다변량 비선형 예측.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cₜ = fₜ·cₜ₋₁ + iₜ·c̃ₜ    (게이트로 기억 갱신)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DEEP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LSTM을 넘어서는 시계열 딥러닝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666670"/>
                </a:solidFill>
                <a:latin typeface="맑은 고딕"/>
              </a:rPr>
              <a:t>문제 규모·해석 요구·확률 예측 필요에 따라 골라 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30552"/>
            <a:ext cx="91440" cy="1609344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4884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1306C"/>
                </a:solidFill>
                <a:latin typeface="맑은 고딕"/>
              </a:rPr>
              <a:t>🔭 어텐션 기반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Transformer · TFT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장기 의존성과 다변량을 어텐션으로 포착. TFT는 변수 중요도까지 해석 가능.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6596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30552"/>
            <a:ext cx="91440" cy="1609344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4884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A3DB8"/>
                </a:solidFill>
                <a:latin typeface="맑은 고딕"/>
              </a:rPr>
              <a:t>🧩 분해형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N-BEATS · N-HiTS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추세/계절을 신경망 블록으로 분해 — 통계 분해의 딥러닝 버전, 해석 용이.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6052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325112"/>
            <a:ext cx="91440" cy="1609344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434340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1A1E"/>
                </a:solidFill>
                <a:latin typeface="맑은 고딕"/>
              </a:rPr>
              <a:t>📈 자동화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Prophet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추세+계절+휴일을 자동 적합. 빠른 베이스라인으로 실무에서 인기.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16052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325112"/>
            <a:ext cx="91440" cy="1609344"/>
          </a:xfrm>
          <a:prstGeom prst="rect">
            <a:avLst/>
          </a:prstGeom>
          <a:solidFill>
            <a:srgbClr val="66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434340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66670"/>
                </a:solidFill>
                <a:latin typeface="맑은 고딕"/>
              </a:rPr>
              <a:t>🎲 확률 예측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DeepAR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점 예측이 아니라 분포를 예측 — 불확실성·리스크까지 함께 제공.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RAG — 검색으로 보강한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LLM은 똑똑하지만 '우리 데이터'와 '최신 트렌드'를 모른다. RAG는 검색해서 그 빈틈을 채운다.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오픈북 시험 — 통째로 외우는 대신, 질문이 오면 관련 자료를 찾아 펴 보고 답한다.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검색 (Retrieve)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트렌드 리포트·과거 캠페인 성과를 벡터DB에 임베딩해 두고, 질문과 유사한 문서를 검색.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보강 (Augment)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검색한 근거를 프롬프트에 주입 — LLM이 '추측' 대신 '근거'로 답하게 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✍️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생성 (Generate)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근거 기반으로 인사이트·콘텐츠 초안 생성 → 환각↓, 최신성·신뢰성↑.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질문 → 검색(top-k 근거) → LLM(근거+질문) → 답변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LLM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LLM 에이전트 — 분석에서 실행까지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에이전트 = LLM + 도구 사용 + 자율 루프. 예측 결과를 받아 사람이 쓸 산출물로 바꾼다.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도구 사용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예측 모델·데이터랩 API를 직접 호출해 최신 수치를 가져옴 (function calling)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자동 인사이트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‘#등산 상승, #피크닉 피크 통과’ 같은 결론을 자연어로 요약·설명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콘텐츠 생성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추천 태그·게시 타이밍에 맞춘 캡션·기획안 초안 작성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사람 확인 게이트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발행 전 사람이 검수 — 최신 LLM(예: Claude Opus 4.8)도 항상 사람 승인 후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적용 아키텍처 — 트렌드 인텔리전스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1927555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1306C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데이터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네이버 데이터랩 · 인스타그램 API · 일별 패널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7635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6819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6819" y="2331720"/>
            <a:ext cx="1927555" cy="109728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9699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A3DB8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9699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시계열 예측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9699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SARIMA · LSTM · TFT 앙상블로 14일 전망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06086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5270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35270" y="2331720"/>
            <a:ext cx="1927555" cy="109728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8150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8150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지식베이스 (RAG)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8150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벡터DB: 과거 트렌드 · 캠페인 성과 검색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44537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73721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73721" y="2331720"/>
            <a:ext cx="1927555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6601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1306C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6601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LLM 에이전트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6601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근거 기반 인사이트 · 콘텐츠 초안 생성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82988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12172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2172" y="2331720"/>
            <a:ext cx="1927555" cy="109728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5052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A3DB8"/>
                </a:solidFill>
                <a:latin typeface="Segoe U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5052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콘텐츠 추천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5052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태그 · 타이밍 · 조합 액션 제안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800600"/>
            <a:ext cx="10881360" cy="603504"/>
          </a:xfrm>
          <a:prstGeom prst="roundRect">
            <a:avLst>
              <a:gd name="adj" fmla="val 30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4800600"/>
            <a:ext cx="10332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↺ 피드백 루프  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게시 성과를 다시 수집해 예측·추천 모델을 재학습 — 시스템이 스스로 정교해진다.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①  데이터 → 평활화 →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tidy 패널을 날짜×태그 행렬로 (pandas pivot)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wide = panel.pivot(index="date", columns="hashtag", values="ratio")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이동평균 평활화 — 7일 중심 윈도우가 주간 주기를 상쇄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6148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5292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ma7 = s.rolling(7, center=True).mean()   # 추세 + 노이즈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1차 차분으로 정상화 (ARIMA의 d=1)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67328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58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diff = s.diff()                          # X_t - X_{t-1}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diff.rolling(28).mean()                  # 평균이 0에 붙는지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45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가법 분해 — 추세는 이동평균, 계절은 '같은 요일끼리 평균'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trend    = s.rolling(7, center=True).mean()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(s - trend).groupby(s.index.weekday).transform("mean")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residual = s - trend - seasonal          # 백색잡음이면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②  ACF →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표본 ACF 직접 구현 — ρ(k) = γ(k)/γ(0)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x = x - x.mean()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rho_k = np.dot(x[:n-k], x[k:]) / np.dot(x, x)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band  = 1.96 / np.sqrt(n)                # 백색잡음 95%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선형추세 적합 (최소제곱) + 요일 더미 계절성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73552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6499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coef = np.polyfit(t, s.values, 1)        # 기울기·절편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pd.Series(s.values - np.polyval(coef, t)) \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             .groupby(s.index.weekday).mean()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14일 외삽 + 95% 예측구간 (잔차 표준편차 기반)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91456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8828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future = np.polyval(coef, future_t) + seasonal[future_weekday]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lo, hi = future - 1.96*resid_std, future + 1.96*resid_std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한계와 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정직한 캐비앗: 이 분석이 말할 수 있는 것과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검색량 ≠ 인스타그램 게시량 — '한국 사용자의 주제 관심도'의 대리지표로 해석해야 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상대값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ratio는 요청 내 정규화 — 태그 간 절대 규모 비교 불가, 시간 변화·모멘텀 비교만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실시간성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2026-06-11 수집 스냅샷 — '실시간 스트림'이 아니라 주기 재수집으로 갱신하는 구조 (전일까지 일별 제공)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계정 시뮬레이션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'우리 계정' 도달은 계정 인사이트 공개 API가 없어 합성한 교육용 데이터 — 분해/예측 방법론 시연용이며 실측 아님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모형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선형 베이스라인은 외생 이벤트·추세 전환을 늦게 반영(백테스트 MAE에서 SARIMA에 열세) — 단순성/해석력과 정확도의 트레이드오프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재현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pip install -r presentation/requirements.txt &amp;&amp; python presentation/build_deck.py — CSV·시드 고정으로 결정론적 재생성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
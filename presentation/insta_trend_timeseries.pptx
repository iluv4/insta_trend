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1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833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0">
                <a:solidFill>
                  <a:srgbClr val="6B6B6B"/>
                </a:solidFill>
                <a:latin typeface="맑은 고딕"/>
              </a:rPr>
              <a:t>한국 인스타그램 해시태그</a:t>
            </a:r>
          </a:p>
          <a:p>
            <a:r>
              <a:rPr sz="5400" b="1">
                <a:solidFill>
                  <a:srgbClr val="222222"/>
                </a:solidFill>
                <a:latin typeface="맑은 고딕"/>
              </a:rPr>
              <a:t>시계열 데이터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6B6B6B"/>
                </a:solidFill>
                <a:latin typeface="맑은 고딕"/>
              </a:rPr>
              <a:t>네이버 데이터랩 실데이터로 본 2026년 상반기 해시태그 트렌드</a:t>
            </a:r>
          </a:p>
          <a:p>
            <a:r>
              <a:rPr sz="1500" b="0">
                <a:solidFill>
                  <a:srgbClr val="6B6B6B"/>
                </a:solidFill>
                <a:latin typeface="맑은 고딕"/>
              </a:rPr>
              <a:t>— 정상성 · 자기상관 · 분해 · 예측: 수업에서 배운 시계열 이론의 실전 적용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1306C"/>
                </a:solidFill>
                <a:latin typeface="맑은 고딕"/>
              </a:rPr>
              <a:t>기준일 2026년 6월 11일 (KST)  ·  분석 기간 2026-01-01 ~ 2026-06-10 (161일)  ·  해시태그 9개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84048"/>
            <a:ext cx="164592" cy="502920"/>
          </a:xfrm>
          <a:prstGeom prst="rect">
            <a:avLst/>
          </a:prstGeom>
          <a:solidFill>
            <a:srgbClr val="E1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33AB4"/>
                </a:solidFill>
                <a:latin typeface="Segoe U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22222"/>
                </a:solidFill>
                <a:latin typeface="맑은 고딕"/>
              </a:rPr>
              <a:t>목차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1306C"/>
                </a:solidFill>
                <a:latin typeface="맑은 고딕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5544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22222"/>
                </a:solidFill>
                <a:latin typeface="맑은 고딕"/>
              </a:rPr>
              <a:t>문제 정의와 데이터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55448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6B6B6B"/>
                </a:solidFill>
                <a:latin typeface="맑은 고딕"/>
              </a:rPr>
              <a:t>마케터의 고민: 무엇이 떡상할까? · 네이버 데이터랩 실데이터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21408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1306C"/>
                </a:solidFill>
                <a:latin typeface="맑은 고딕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21408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22222"/>
                </a:solidFill>
                <a:latin typeface="맑은 고딕"/>
              </a:rPr>
              <a:t>이론: 시계열의 구조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12140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6B6B6B"/>
                </a:solidFill>
                <a:latin typeface="맑은 고딕"/>
              </a:rPr>
              <a:t>확률과정, 구성요소, 가법/승법 분해 모형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88336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1306C"/>
                </a:solidFill>
                <a:latin typeface="맑은 고딕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688336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22222"/>
                </a:solidFill>
                <a:latin typeface="맑은 고딕"/>
              </a:rPr>
              <a:t>이론: 정상성과 차분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688336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6B6B6B"/>
                </a:solidFill>
                <a:latin typeface="맑은 고딕"/>
              </a:rPr>
              <a:t>약정상성 3조건, 단위근, 1차 차분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255264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1306C"/>
                </a:solidFill>
                <a:latin typeface="맑은 고딕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255264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22222"/>
                </a:solidFill>
                <a:latin typeface="맑은 고딕"/>
              </a:rPr>
              <a:t>이론: 자기상관과 ARIMA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255264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6B6B6B"/>
                </a:solidFill>
                <a:latin typeface="맑은 고딕"/>
              </a:rPr>
              <a:t>ACF/PACF, 백색잡음, AR·MA·ARIMA(p,d,q)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822192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1306C"/>
                </a:solidFill>
                <a:latin typeface="맑은 고딕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822192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22222"/>
                </a:solidFill>
                <a:latin typeface="맑은 고딕"/>
              </a:rPr>
              <a:t>분석: 평활화 · 정상성 · ACF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822192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6B6B6B"/>
                </a:solidFill>
                <a:latin typeface="맑은 고딕"/>
              </a:rPr>
              <a:t>이론을 실데이터로 검증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38912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1306C"/>
                </a:solidFill>
                <a:latin typeface="맑은 고딕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38912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22222"/>
                </a:solidFill>
                <a:latin typeface="맑은 고딕"/>
              </a:rPr>
              <a:t>분석: 분해 · 계절성 · 모멘텀 · 예측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43891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6B6B6B"/>
                </a:solidFill>
                <a:latin typeface="맑은 고딕"/>
              </a:rPr>
              <a:t>추세/요일 효과 분리와 14일 외삽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956048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1306C"/>
                </a:solidFill>
                <a:latin typeface="맑은 고딕"/>
              </a:rP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956048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22222"/>
                </a:solidFill>
                <a:latin typeface="맑은 고딕"/>
              </a:rPr>
              <a:t>결론: 지금 뜨는 해시태그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95604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6B6B6B"/>
                </a:solidFill>
                <a:latin typeface="맑은 고딕"/>
              </a:rPr>
              <a:t>2026-06-11 기준 트렌딩 태그와 활용 전략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522976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1306C"/>
                </a:solidFill>
                <a:latin typeface="맑은 고딕"/>
              </a:rP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5522976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22222"/>
                </a:solidFill>
                <a:latin typeface="맑은 고딕"/>
              </a:rPr>
              <a:t>부록: 핵심 코드 · 한계 · 재현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5522976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6B6B6B"/>
                </a:solidFill>
                <a:latin typeface="맑은 고딕"/>
              </a:rPr>
              <a:t>pandas/numpy 구현과 데이터 캐비앳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654710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6B6B"/>
                </a:solidFill>
                <a:latin typeface="맑은 고딕"/>
              </a:rPr>
              <a:t>시계열 데이터 분석 · 한국 해시태그 트렌드 · 기준일 2026-06-11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4415" y="654710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맑은 고딕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84048"/>
            <a:ext cx="164592" cy="502920"/>
          </a:xfrm>
          <a:prstGeom prst="rect">
            <a:avLst/>
          </a:prstGeom>
          <a:solidFill>
            <a:srgbClr val="E1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33AB4"/>
                </a:solidFill>
                <a:latin typeface="Segoe UI"/>
              </a:rPr>
              <a:t>01 ·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22222"/>
                </a:solidFill>
                <a:latin typeface="맑은 고딕"/>
              </a:rPr>
              <a:t>문제 정의 — 마케터의 고민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71600"/>
            <a:ext cx="10789920" cy="822960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10332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222222"/>
                </a:solidFill>
                <a:latin typeface="맑은 고딕"/>
              </a:rPr>
              <a:t>“다음 달에 어떤 해시태그가 떡상할까? 우리 계정 도달은 오를까, 꺾일까?” — 감으로는 답할 수 없는 질문들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50" b="1">
                <a:solidFill>
                  <a:srgbClr val="E1306C"/>
                </a:solidFill>
                <a:latin typeface="맑은 고딕"/>
              </a:rPr>
              <a:t>●  “어떤 태그가 떡상할까?”</a:t>
            </a:r>
          </a:p>
          <a:p>
            <a:pPr>
              <a:spcAft>
                <a:spcPts val="1300"/>
              </a:spcAft>
            </a:pPr>
            <a:r>
              <a:rPr sz="1350" b="0">
                <a:solidFill>
                  <a:srgbClr val="6B6B6B"/>
                </a:solidFill>
                <a:latin typeface="맑은 고딕"/>
              </a:rPr>
              <a:t>     인기 순위는 '이미 큰 것'만 보여줌 — 순위에 올라온 시점은 대개 피크 직전이라 따라 들어가면 늦음</a:t>
            </a:r>
          </a:p>
          <a:p>
            <a:pPr>
              <a:spcAft>
                <a:spcPts val="1000"/>
              </a:spcAft>
            </a:pPr>
            <a:r>
              <a:rPr sz="1650" b="1">
                <a:solidFill>
                  <a:srgbClr val="E1306C"/>
                </a:solidFill>
                <a:latin typeface="맑은 고딕"/>
              </a:rPr>
              <a:t>●  “우리 계정은 어떻게 될까?”</a:t>
            </a:r>
          </a:p>
          <a:p>
            <a:pPr>
              <a:spcAft>
                <a:spcPts val="1300"/>
              </a:spcAft>
            </a:pPr>
            <a:r>
              <a:rPr sz="1350" b="0">
                <a:solidFill>
                  <a:srgbClr val="6B6B6B"/>
                </a:solidFill>
                <a:latin typeface="맑은 고딕"/>
              </a:rPr>
              <a:t>     도달·팔로워 그래프가 오르는 중인지, 꺾이는 중인지, 그냥 요일 출렁임인지 눈으로는 구분 불가</a:t>
            </a:r>
          </a:p>
          <a:p>
            <a:pPr>
              <a:spcAft>
                <a:spcPts val="1000"/>
              </a:spcAft>
            </a:pPr>
            <a:r>
              <a:rPr sz="1650" b="1">
                <a:solidFill>
                  <a:srgbClr val="E1306C"/>
                </a:solidFill>
                <a:latin typeface="맑은 고딕"/>
              </a:rPr>
              <a:t>●  “왜 예측이 어렵나?”</a:t>
            </a:r>
          </a:p>
          <a:p>
            <a:pPr>
              <a:spcAft>
                <a:spcPts val="1300"/>
              </a:spcAft>
            </a:pPr>
            <a:r>
              <a:rPr sz="1350" b="0">
                <a:solidFill>
                  <a:srgbClr val="6B6B6B"/>
                </a:solidFill>
                <a:latin typeface="맑은 고딕"/>
              </a:rPr>
              <a:t>     관심도 = 추세 + 계절성 + 이벤트 + 노이즈가 섞인 신호 — 분리하지 않으면 노이즈를 트렌드로 오독</a:t>
            </a:r>
          </a:p>
          <a:p>
            <a:pPr>
              <a:spcAft>
                <a:spcPts val="1000"/>
              </a:spcAft>
            </a:pPr>
            <a:r>
              <a:rPr sz="1650" b="1">
                <a:solidFill>
                  <a:srgbClr val="E1306C"/>
                </a:solidFill>
                <a:latin typeface="맑은 고딕"/>
              </a:rPr>
              <a:t>●  이 발표의 제안</a:t>
            </a:r>
          </a:p>
          <a:p>
            <a:pPr>
              <a:spcAft>
                <a:spcPts val="1300"/>
              </a:spcAft>
            </a:pPr>
            <a:r>
              <a:rPr sz="1350" b="0">
                <a:solidFill>
                  <a:srgbClr val="6B6B6B"/>
                </a:solidFill>
                <a:latin typeface="맑은 고딕"/>
              </a:rPr>
              <a:t>     시계열 분해로 신호를 성분별로 나누면 '진짜 상승'·'피크 통과'·'단순 요일 효과'를 데이터로 구분할 수 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4710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6B6B"/>
                </a:solidFill>
                <a:latin typeface="맑은 고딕"/>
              </a:rPr>
              <a:t>시계열 데이터 분석 · 한국 해시태그 트렌드 · 기준일 2026-06-11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4710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84048"/>
            <a:ext cx="164592" cy="502920"/>
          </a:xfrm>
          <a:prstGeom prst="rect">
            <a:avLst/>
          </a:prstGeom>
          <a:solidFill>
            <a:srgbClr val="E1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33AB4"/>
                </a:solidFill>
                <a:latin typeface="Segoe UI"/>
              </a:rPr>
              <a:t>01 ·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22222"/>
                </a:solidFill>
                <a:latin typeface="맑은 고딕"/>
              </a:rPr>
              <a:t>분석 접근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71600"/>
            <a:ext cx="10789920" cy="822960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10332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222222"/>
                </a:solidFill>
                <a:latin typeface="맑은 고딕"/>
              </a:rPr>
              <a:t>질문: 2026년 6월 11일 현재, 한국에서 어떤 해시태그가 뜨고 있고 — 어디로 가는가?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50" b="1">
                <a:solidFill>
                  <a:srgbClr val="E1306C"/>
                </a:solidFill>
                <a:latin typeface="맑은 고딕"/>
              </a:rPr>
              <a:t>●  왜 시계열인가</a:t>
            </a:r>
          </a:p>
          <a:p>
            <a:pPr>
              <a:spcAft>
                <a:spcPts val="1300"/>
              </a:spcAft>
            </a:pPr>
            <a:r>
              <a:rPr sz="1350" b="0">
                <a:solidFill>
                  <a:srgbClr val="6B6B6B"/>
                </a:solidFill>
                <a:latin typeface="맑은 고딕"/>
              </a:rPr>
              <a:t>     한 시점의 인기 순위는 '지금 큰 것'만 보여줌 — 추세·계절성·모멘텀을 분리해야 '뜨는 것'과 '식는 것'을 구분</a:t>
            </a:r>
          </a:p>
          <a:p>
            <a:pPr>
              <a:spcAft>
                <a:spcPts val="1000"/>
              </a:spcAft>
            </a:pPr>
            <a:r>
              <a:rPr sz="1650" b="1">
                <a:solidFill>
                  <a:srgbClr val="E1306C"/>
                </a:solidFill>
                <a:latin typeface="맑은 고딕"/>
              </a:rPr>
              <a:t>●  데이터</a:t>
            </a:r>
          </a:p>
          <a:p>
            <a:pPr>
              <a:spcAft>
                <a:spcPts val="1300"/>
              </a:spcAft>
            </a:pPr>
            <a:r>
              <a:rPr sz="1350" b="0">
                <a:solidFill>
                  <a:srgbClr val="6B6B6B"/>
                </a:solidFill>
                <a:latin typeface="맑은 고딕"/>
              </a:rPr>
              <a:t>     네이버 데이터랩 검색어트렌드 실데이터 — 한국 사용자의 일별 검색 관심도 (2026-06-11 수집)</a:t>
            </a:r>
          </a:p>
          <a:p>
            <a:pPr>
              <a:spcAft>
                <a:spcPts val="1000"/>
              </a:spcAft>
            </a:pPr>
            <a:r>
              <a:rPr sz="1650" b="1">
                <a:solidFill>
                  <a:srgbClr val="E1306C"/>
                </a:solidFill>
                <a:latin typeface="맑은 고딕"/>
              </a:rPr>
              <a:t>●  프록시 가정</a:t>
            </a:r>
          </a:p>
          <a:p>
            <a:pPr>
              <a:spcAft>
                <a:spcPts val="1300"/>
              </a:spcAft>
            </a:pPr>
            <a:r>
              <a:rPr sz="1350" b="0">
                <a:solidFill>
                  <a:srgbClr val="6B6B6B"/>
                </a:solidFill>
                <a:latin typeface="맑은 고딕"/>
              </a:rPr>
              <a:t>     인스타그램은 해시태그 시계열 공개 API가 없음 → 같은 주제의 네이버 검색량을 한국 관심도의 대리지표로 사용</a:t>
            </a:r>
          </a:p>
          <a:p>
            <a:pPr>
              <a:spcAft>
                <a:spcPts val="1000"/>
              </a:spcAft>
            </a:pPr>
            <a:r>
              <a:rPr sz="1650" b="1">
                <a:solidFill>
                  <a:srgbClr val="E1306C"/>
                </a:solidFill>
                <a:latin typeface="맑은 고딕"/>
              </a:rPr>
              <a:t>●  분석 절차</a:t>
            </a:r>
          </a:p>
          <a:p>
            <a:pPr>
              <a:spcAft>
                <a:spcPts val="1300"/>
              </a:spcAft>
            </a:pPr>
            <a:r>
              <a:rPr sz="1350" b="0">
                <a:solidFill>
                  <a:srgbClr val="6B6B6B"/>
                </a:solidFill>
                <a:latin typeface="맑은 고딕"/>
              </a:rPr>
              <a:t>     EDA → 평활화 → 정상성 진단 → ACF → 분해 → 계절성/모멘텀 → 예측 → 액션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4710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6B6B"/>
                </a:solidFill>
                <a:latin typeface="맑은 고딕"/>
              </a:rPr>
              <a:t>시계열 데이터 분석 · 한국 해시태그 트렌드 · 기준일 2026-06-11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4710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84048"/>
            <a:ext cx="164592" cy="502920"/>
          </a:xfrm>
          <a:prstGeom prst="rect">
            <a:avLst/>
          </a:prstGeom>
          <a:solidFill>
            <a:srgbClr val="E1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33AB4"/>
                </a:solidFill>
                <a:latin typeface="Segoe UI"/>
              </a:rPr>
              <a:t>01 ·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22222"/>
                </a:solidFill>
                <a:latin typeface="맑은 고딕"/>
              </a:rPr>
              <a:t>데이터셋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71600"/>
            <a:ext cx="10789920" cy="822960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10332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222222"/>
                </a:solidFill>
                <a:latin typeface="맑은 고딕"/>
              </a:rPr>
              <a:t>2026-01-01 ~ 2026-06-10 · 161일 · 일 단위 · 라이프스타일 해시태그 9개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50" b="1">
                <a:solidFill>
                  <a:srgbClr val="E1306C"/>
                </a:solidFill>
                <a:latin typeface="맑은 고딕"/>
              </a:rPr>
              <a:t>●  수집</a:t>
            </a:r>
          </a:p>
          <a:p>
            <a:pPr>
              <a:spcAft>
                <a:spcPts val="1300"/>
              </a:spcAft>
            </a:pPr>
            <a:r>
              <a:rPr sz="1350" b="0">
                <a:solidFill>
                  <a:srgbClr val="6B6B6B"/>
                </a:solidFill>
                <a:latin typeface="맑은 고딕"/>
              </a:rPr>
              <a:t>     네이버 데이터랩 검색어트렌드 API — 키워드그룹별 일별 ratio (그룹 예: 러닝=러닝+러닝크루)</a:t>
            </a:r>
          </a:p>
          <a:p>
            <a:pPr>
              <a:spcAft>
                <a:spcPts val="1000"/>
              </a:spcAft>
            </a:pPr>
            <a:r>
              <a:rPr sz="1650" b="1">
                <a:solidFill>
                  <a:srgbClr val="E1306C"/>
                </a:solidFill>
                <a:latin typeface="맑은 고딕"/>
              </a:rPr>
              <a:t>●  대상 태그</a:t>
            </a:r>
          </a:p>
          <a:p>
            <a:pPr>
              <a:spcAft>
                <a:spcPts val="1300"/>
              </a:spcAft>
            </a:pPr>
            <a:r>
              <a:rPr sz="1350" b="0">
                <a:solidFill>
                  <a:srgbClr val="6B6B6B"/>
                </a:solidFill>
                <a:latin typeface="맑은 고딕"/>
              </a:rPr>
              <a:t>     #러닝 #캠핑 #등산 #카페 #국내여행 #다이어트 #피크닉 #클라이밍 #빵지순례</a:t>
            </a:r>
          </a:p>
          <a:p>
            <a:pPr>
              <a:spcAft>
                <a:spcPts val="1000"/>
              </a:spcAft>
            </a:pPr>
            <a:r>
              <a:rPr sz="1650" b="1">
                <a:solidFill>
                  <a:srgbClr val="E1306C"/>
                </a:solidFill>
                <a:latin typeface="맑은 고딕"/>
              </a:rPr>
              <a:t>●  ratio의 의미</a:t>
            </a:r>
          </a:p>
          <a:p>
            <a:pPr>
              <a:spcAft>
                <a:spcPts val="1300"/>
              </a:spcAft>
            </a:pPr>
            <a:r>
              <a:rPr sz="1350" b="0">
                <a:solidFill>
                  <a:srgbClr val="6B6B6B"/>
                </a:solidFill>
                <a:latin typeface="맑은 고딕"/>
              </a:rPr>
              <a:t>     요청 내 최대값=100인 상대값 → 시리즈 간 절대 비교는 불가, 시리즈 내 시간 변화 분석은 유효</a:t>
            </a:r>
          </a:p>
          <a:p>
            <a:pPr>
              <a:spcAft>
                <a:spcPts val="1000"/>
              </a:spcAft>
            </a:pPr>
            <a:r>
              <a:rPr sz="1650" b="1">
                <a:solidFill>
                  <a:srgbClr val="E1306C"/>
                </a:solidFill>
                <a:latin typeface="맑은 고딕"/>
              </a:rPr>
              <a:t>●  형태</a:t>
            </a:r>
          </a:p>
          <a:p>
            <a:pPr>
              <a:spcAft>
                <a:spcPts val="1300"/>
              </a:spcAft>
            </a:pPr>
            <a:r>
              <a:rPr sz="1350" b="0">
                <a:solidFill>
                  <a:srgbClr val="6B6B6B"/>
                </a:solidFill>
                <a:latin typeface="맑은 고딕"/>
              </a:rPr>
              <a:t>     tidy 패널 (date, hashtag, ratio) → pivot하여 날짜×태그 행렬로 분석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4710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6B6B"/>
                </a:solidFill>
                <a:latin typeface="맑은 고딕"/>
              </a:rPr>
              <a:t>시계열 데이터 분석 · 한국 해시태그 트렌드 · 기준일 2026-06-11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4710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743200"/>
            <a:ext cx="1280160" cy="109728"/>
          </a:xfrm>
          <a:prstGeom prst="rect">
            <a:avLst/>
          </a:prstGeom>
          <a:solidFill>
            <a:srgbClr val="E1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1306C"/>
                </a:solidFill>
                <a:latin typeface="Segoe UI"/>
              </a:rPr>
              <a:t>PART 1 · THEORY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맑은 고딕"/>
              </a:rPr>
              <a:t>시계열 이론 — 수업에서 배운 도구들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84048"/>
            <a:ext cx="164592" cy="502920"/>
          </a:xfrm>
          <a:prstGeom prst="rect">
            <a:avLst/>
          </a:prstGeom>
          <a:solidFill>
            <a:srgbClr val="E1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33AB4"/>
                </a:solidFill>
                <a:latin typeface="Segoe UI"/>
              </a:rPr>
              <a:t>02 · STOCHASTIC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22222"/>
                </a:solidFill>
                <a:latin typeface="맑은 고딕"/>
              </a:rPr>
              <a:t>시계열 데이터란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6309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50" b="1">
                <a:solidFill>
                  <a:srgbClr val="E1306C"/>
                </a:solidFill>
                <a:latin typeface="맑은 고딕"/>
              </a:rPr>
              <a:t>●  정의</a:t>
            </a:r>
          </a:p>
          <a:p>
            <a:pPr>
              <a:spcAft>
                <a:spcPts val="1200"/>
              </a:spcAft>
            </a:pPr>
            <a:r>
              <a:rPr sz="1250" b="0">
                <a:solidFill>
                  <a:srgbClr val="6B6B6B"/>
                </a:solidFill>
                <a:latin typeface="맑은 고딕"/>
              </a:rPr>
              <a:t>     시간 순서로 관측된 확률변수의 열 — 확률과정 {X_t}의 한 실현(realization)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E1306C"/>
                </a:solidFill>
                <a:latin typeface="맑은 고딕"/>
              </a:rPr>
              <a:t>●  핵심 성질: 시간 의존성</a:t>
            </a:r>
          </a:p>
          <a:p>
            <a:pPr>
              <a:spcAft>
                <a:spcPts val="1200"/>
              </a:spcAft>
            </a:pPr>
            <a:r>
              <a:rPr sz="1250" b="0">
                <a:solidFill>
                  <a:srgbClr val="6B6B6B"/>
                </a:solidFill>
                <a:latin typeface="맑은 고딕"/>
              </a:rPr>
              <a:t>     관측치가 i.i.d.가 아님 — 오늘 값이 어제 값과 상관 → 고전 통계의 독립 가정이 무너짐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E1306C"/>
                </a:solidFill>
                <a:latin typeface="맑은 고딕"/>
              </a:rPr>
              <a:t>●  왜 따로 배우는가</a:t>
            </a:r>
          </a:p>
          <a:p>
            <a:pPr>
              <a:spcAft>
                <a:spcPts val="1200"/>
              </a:spcAft>
            </a:pPr>
            <a:r>
              <a:rPr sz="1250" b="0">
                <a:solidFill>
                  <a:srgbClr val="6B6B6B"/>
                </a:solidFill>
                <a:latin typeface="맑은 고딕"/>
              </a:rPr>
              <a:t>     회귀처럼 다루면 표준오차·검정이 모두 왜곡 — 자기상관을 모형 안에 넣어야 함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E1306C"/>
                </a:solidFill>
                <a:latin typeface="맑은 고딕"/>
              </a:rPr>
              <a:t>●  우리 데이터</a:t>
            </a:r>
          </a:p>
          <a:p>
            <a:pPr>
              <a:spcAft>
                <a:spcPts val="1200"/>
              </a:spcAft>
            </a:pPr>
            <a:r>
              <a:rPr sz="1250" b="0">
                <a:solidFill>
                  <a:srgbClr val="6B6B6B"/>
                </a:solidFill>
                <a:latin typeface="맑은 고딕"/>
              </a:rPr>
              <a:t>     해시태그별 일별 관심도 161개 관측치 = 일 단위 이산 시계열 9개</a:t>
            </a:r>
          </a:p>
        </p:txBody>
      </p:sp>
      <p:sp>
        <p:nvSpPr>
          <p:cNvPr id="6" name="Rectangle 5"/>
          <p:cNvSpPr/>
          <p:nvPr/>
        </p:nvSpPr>
        <p:spPr>
          <a:xfrm>
            <a:off x="7269480" y="1417320"/>
            <a:ext cx="4434840" cy="4846320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269480" y="1417320"/>
            <a:ext cx="4434840" cy="457200"/>
          </a:xfrm>
          <a:prstGeom prst="rect">
            <a:avLst/>
          </a:prstGeom>
          <a:solidFill>
            <a:srgbClr val="833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52360" y="1472184"/>
            <a:ext cx="4069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맑은 고딕"/>
              </a:rPr>
              <a:t>핵심 수식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0" y="2057400"/>
            <a:ext cx="3977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50" b="1">
                <a:solidFill>
                  <a:srgbClr val="833AB4"/>
                </a:solidFill>
                <a:latin typeface="맑은 고딕"/>
              </a:rPr>
              <a:t>확률과정</a:t>
            </a:r>
          </a:p>
          <a:p>
            <a:pPr>
              <a:spcAft>
                <a:spcPts val="1200"/>
              </a:spcAft>
            </a:pPr>
            <a:r>
              <a:rPr sz="1350" b="0">
                <a:solidFill>
                  <a:srgbClr val="222222"/>
                </a:solidFill>
                <a:latin typeface="Consolas"/>
              </a:rPr>
              <a:t>{ X_t : t = 1, 2, ..., n }</a:t>
            </a:r>
          </a:p>
          <a:p>
            <a:pPr>
              <a:spcAft>
                <a:spcPts val="200"/>
              </a:spcAft>
            </a:pPr>
            <a:r>
              <a:rPr sz="1150" b="1">
                <a:solidFill>
                  <a:srgbClr val="833AB4"/>
                </a:solidFill>
                <a:latin typeface="맑은 고딕"/>
              </a:rPr>
              <a:t>자기공분산</a:t>
            </a:r>
          </a:p>
          <a:p>
            <a:pPr>
              <a:spcAft>
                <a:spcPts val="1200"/>
              </a:spcAft>
            </a:pPr>
            <a:r>
              <a:rPr sz="1350" b="0">
                <a:solidFill>
                  <a:srgbClr val="222222"/>
                </a:solidFill>
                <a:latin typeface="Consolas"/>
              </a:rPr>
              <a:t>γ(k) = Cov(X_t, X_{t+k})</a:t>
            </a:r>
          </a:p>
          <a:p>
            <a:pPr>
              <a:spcAft>
                <a:spcPts val="200"/>
              </a:spcAft>
            </a:pPr>
            <a:r>
              <a:rPr sz="1150" b="1">
                <a:solidFill>
                  <a:srgbClr val="833AB4"/>
                </a:solidFill>
                <a:latin typeface="맑은 고딕"/>
              </a:rPr>
              <a:t>시간 의존성</a:t>
            </a:r>
          </a:p>
          <a:p>
            <a:pPr>
              <a:spcAft>
                <a:spcPts val="1200"/>
              </a:spcAft>
            </a:pPr>
            <a:r>
              <a:rPr sz="1350" b="0">
                <a:solidFill>
                  <a:srgbClr val="222222"/>
                </a:solidFill>
                <a:latin typeface="Consolas"/>
              </a:rPr>
              <a:t>Corr(X_t, X_{t-1}) ≠ 0</a:t>
            </a:r>
          </a:p>
          <a:p>
            <a:pPr>
              <a:spcAft>
                <a:spcPts val="200"/>
              </a:spcAft>
            </a:pPr>
            <a:r>
              <a:rPr sz="1150" b="1">
                <a:solidFill>
                  <a:srgbClr val="833AB4"/>
                </a:solidFill>
                <a:latin typeface="맑은 고딕"/>
              </a:rPr>
              <a:t>표본 (우리 데이터)</a:t>
            </a:r>
          </a:p>
          <a:p>
            <a:pPr>
              <a:spcAft>
                <a:spcPts val="1200"/>
              </a:spcAft>
            </a:pPr>
            <a:r>
              <a:rPr sz="1350" b="0">
                <a:solidFill>
                  <a:srgbClr val="222222"/>
                </a:solidFill>
                <a:latin typeface="Consolas"/>
              </a:rPr>
              <a:t>n = 161일, 9개 시리즈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4710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6B6B"/>
                </a:solidFill>
                <a:latin typeface="맑은 고딕"/>
              </a:rPr>
              <a:t>시계열 데이터 분석 · 한국 해시태그 트렌드 · 기준일 2026-06-11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54710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84048"/>
            <a:ext cx="164592" cy="502920"/>
          </a:xfrm>
          <a:prstGeom prst="rect">
            <a:avLst/>
          </a:prstGeom>
          <a:solidFill>
            <a:srgbClr val="E1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33AB4"/>
                </a:solidFill>
                <a:latin typeface="Segoe UI"/>
              </a:rPr>
              <a:t>02 · DECOMPOSITION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22222"/>
                </a:solidFill>
                <a:latin typeface="맑은 고딕"/>
              </a:rPr>
              <a:t>구성요소와 분해 모형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6309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50" b="1">
                <a:solidFill>
                  <a:srgbClr val="E1306C"/>
                </a:solidFill>
                <a:latin typeface="맑은 고딕"/>
              </a:rPr>
              <a:t>●  4대 구성요소</a:t>
            </a:r>
          </a:p>
          <a:p>
            <a:pPr>
              <a:spcAft>
                <a:spcPts val="1200"/>
              </a:spcAft>
            </a:pPr>
            <a:r>
              <a:rPr sz="1250" b="0">
                <a:solidFill>
                  <a:srgbClr val="6B6B6B"/>
                </a:solidFill>
                <a:latin typeface="맑은 고딕"/>
              </a:rPr>
              <a:t>     추세(T) 장기 방향 · 계절(S) 고정 주기 반복 · 순환(C) 비고정 장주기 · 불규칙(R) 잔차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E1306C"/>
                </a:solidFill>
                <a:latin typeface="맑은 고딕"/>
              </a:rPr>
              <a:t>●  가법 모형</a:t>
            </a:r>
          </a:p>
          <a:p>
            <a:pPr>
              <a:spcAft>
                <a:spcPts val="1200"/>
              </a:spcAft>
            </a:pPr>
            <a:r>
              <a:rPr sz="1250" b="0">
                <a:solidFill>
                  <a:srgbClr val="6B6B6B"/>
                </a:solidFill>
                <a:latin typeface="맑은 고딕"/>
              </a:rPr>
              <a:t>     변동 폭이 수준과 무관하게 일정할 때 — 성분을 더해서 관측을 설명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E1306C"/>
                </a:solidFill>
                <a:latin typeface="맑은 고딕"/>
              </a:rPr>
              <a:t>●  승법 모형</a:t>
            </a:r>
          </a:p>
          <a:p>
            <a:pPr>
              <a:spcAft>
                <a:spcPts val="1200"/>
              </a:spcAft>
            </a:pPr>
            <a:r>
              <a:rPr sz="1250" b="0">
                <a:solidFill>
                  <a:srgbClr val="6B6B6B"/>
                </a:solidFill>
                <a:latin typeface="맑은 고딕"/>
              </a:rPr>
              <a:t>     수준이 커질수록 변동도 커질 때 — 로그 변환하면 가법으로 환원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E1306C"/>
                </a:solidFill>
                <a:latin typeface="맑은 고딕"/>
              </a:rPr>
              <a:t>●  추정 방법</a:t>
            </a:r>
          </a:p>
          <a:p>
            <a:pPr>
              <a:spcAft>
                <a:spcPts val="1200"/>
              </a:spcAft>
            </a:pPr>
            <a:r>
              <a:rPr sz="1250" b="0">
                <a:solidFill>
                  <a:srgbClr val="6B6B6B"/>
                </a:solidFill>
                <a:latin typeface="맑은 고딕"/>
              </a:rPr>
              <a:t>     추세는 중심 이동평균, 계절성분은 '같은 요일끼리 평균', 잔차는 나머지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7269480" y="1417320"/>
            <a:ext cx="4434840" cy="4846320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269480" y="1417320"/>
            <a:ext cx="4434840" cy="457200"/>
          </a:xfrm>
          <a:prstGeom prst="rect">
            <a:avLst/>
          </a:prstGeom>
          <a:solidFill>
            <a:srgbClr val="833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52360" y="1472184"/>
            <a:ext cx="4069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맑은 고딕"/>
              </a:rPr>
              <a:t>핵심 수식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0" y="2057400"/>
            <a:ext cx="3977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50" b="1">
                <a:solidFill>
                  <a:srgbClr val="833AB4"/>
                </a:solidFill>
                <a:latin typeface="맑은 고딕"/>
              </a:rPr>
              <a:t>가법 모형</a:t>
            </a:r>
          </a:p>
          <a:p>
            <a:pPr>
              <a:spcAft>
                <a:spcPts val="1200"/>
              </a:spcAft>
            </a:pPr>
            <a:r>
              <a:rPr sz="1350" b="0">
                <a:solidFill>
                  <a:srgbClr val="222222"/>
                </a:solidFill>
                <a:latin typeface="Consolas"/>
              </a:rPr>
              <a:t>X_t = T_t + S_t + R_t</a:t>
            </a:r>
          </a:p>
          <a:p>
            <a:pPr>
              <a:spcAft>
                <a:spcPts val="200"/>
              </a:spcAft>
            </a:pPr>
            <a:r>
              <a:rPr sz="1150" b="1">
                <a:solidFill>
                  <a:srgbClr val="833AB4"/>
                </a:solidFill>
                <a:latin typeface="맑은 고딕"/>
              </a:rPr>
              <a:t>승법 모형</a:t>
            </a:r>
          </a:p>
          <a:p>
            <a:pPr>
              <a:spcAft>
                <a:spcPts val="1200"/>
              </a:spcAft>
            </a:pPr>
            <a:r>
              <a:rPr sz="1350" b="0">
                <a:solidFill>
                  <a:srgbClr val="222222"/>
                </a:solidFill>
                <a:latin typeface="Consolas"/>
              </a:rPr>
              <a:t>X_t = T_t × S_t × R_t</a:t>
            </a:r>
          </a:p>
          <a:p>
            <a:pPr>
              <a:spcAft>
                <a:spcPts val="200"/>
              </a:spcAft>
            </a:pPr>
            <a:r>
              <a:rPr sz="1150" b="1">
                <a:solidFill>
                  <a:srgbClr val="833AB4"/>
                </a:solidFill>
                <a:latin typeface="맑은 고딕"/>
              </a:rPr>
              <a:t>로그 변환</a:t>
            </a:r>
          </a:p>
          <a:p>
            <a:pPr>
              <a:spcAft>
                <a:spcPts val="1200"/>
              </a:spcAft>
            </a:pPr>
            <a:r>
              <a:rPr sz="1350" b="0">
                <a:solidFill>
                  <a:srgbClr val="222222"/>
                </a:solidFill>
                <a:latin typeface="Consolas"/>
              </a:rPr>
              <a:t>log X_t = log T_t + log S_t + log R_t</a:t>
            </a:r>
          </a:p>
          <a:p>
            <a:pPr>
              <a:spcAft>
                <a:spcPts val="200"/>
              </a:spcAft>
            </a:pPr>
            <a:r>
              <a:rPr sz="1150" b="1">
                <a:solidFill>
                  <a:srgbClr val="833AB4"/>
                </a:solidFill>
                <a:latin typeface="맑은 고딕"/>
              </a:rPr>
              <a:t>추세 추정 (period=7)</a:t>
            </a:r>
          </a:p>
          <a:p>
            <a:pPr>
              <a:spcAft>
                <a:spcPts val="1200"/>
              </a:spcAft>
            </a:pPr>
            <a:r>
              <a:rPr sz="1350" b="0">
                <a:solidFill>
                  <a:srgbClr val="222222"/>
                </a:solidFill>
                <a:latin typeface="Consolas"/>
              </a:rPr>
              <a:t>T_t = (1/7) Σ X_{t+j}, j=-3..3</a:t>
            </a:r>
          </a:p>
          <a:p>
            <a:pPr>
              <a:spcAft>
                <a:spcPts val="200"/>
              </a:spcAft>
            </a:pPr>
            <a:r>
              <a:rPr sz="1150" b="1">
                <a:solidFill>
                  <a:srgbClr val="833AB4"/>
                </a:solidFill>
                <a:latin typeface="맑은 고딕"/>
              </a:rPr>
              <a:t>계절 추정</a:t>
            </a:r>
          </a:p>
          <a:p>
            <a:pPr>
              <a:spcAft>
                <a:spcPts val="1200"/>
              </a:spcAft>
            </a:pPr>
            <a:r>
              <a:rPr sz="1350" b="0">
                <a:solidFill>
                  <a:srgbClr val="222222"/>
                </a:solidFill>
                <a:latin typeface="Consolas"/>
              </a:rPr>
              <a:t>S_t = mean( X−T | 같은 요일 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4710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6B6B"/>
                </a:solidFill>
                <a:latin typeface="맑은 고딕"/>
              </a:rPr>
              <a:t>시계열 데이터 분석 · 한국 해시태그 트렌드 · 기준일 2026-06-11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54710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84048"/>
            <a:ext cx="164592" cy="502920"/>
          </a:xfrm>
          <a:prstGeom prst="rect">
            <a:avLst/>
          </a:prstGeom>
          <a:solidFill>
            <a:srgbClr val="E1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33AB4"/>
                </a:solidFill>
                <a:latin typeface="Segoe UI"/>
              </a:rPr>
              <a:t>03 · STATIONARITY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22222"/>
                </a:solidFill>
                <a:latin typeface="맑은 고딕"/>
              </a:rPr>
              <a:t>정상성과 차분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6309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50" b="1">
                <a:solidFill>
                  <a:srgbClr val="E1306C"/>
                </a:solidFill>
                <a:latin typeface="맑은 고딕"/>
              </a:rPr>
              <a:t>●  약정상성 3조건</a:t>
            </a:r>
          </a:p>
          <a:p>
            <a:pPr>
              <a:spcAft>
                <a:spcPts val="1200"/>
              </a:spcAft>
            </a:pPr>
            <a:r>
              <a:rPr sz="1250" b="0">
                <a:solidFill>
                  <a:srgbClr val="6B6B6B"/>
                </a:solidFill>
                <a:latin typeface="맑은 고딕"/>
              </a:rPr>
              <a:t>     ① 평균이 시간에 불변 ② 분산이 유한·불변 ③ 자기공분산이 시차 k에만 의존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E1306C"/>
                </a:solidFill>
                <a:latin typeface="맑은 고딕"/>
              </a:rPr>
              <a:t>●  왜 중요한가</a:t>
            </a:r>
          </a:p>
          <a:p>
            <a:pPr>
              <a:spcAft>
                <a:spcPts val="1200"/>
              </a:spcAft>
            </a:pPr>
            <a:r>
              <a:rPr sz="1250" b="0">
                <a:solidFill>
                  <a:srgbClr val="6B6B6B"/>
                </a:solidFill>
                <a:latin typeface="맑은 고딕"/>
              </a:rPr>
              <a:t>     ARMA류 모형·ACF 해석·예측 이론이 모두 정상성 위에서 성립 — 비정상 계열은 가짜 상관(spurious) 위험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E1306C"/>
                </a:solidFill>
                <a:latin typeface="맑은 고딕"/>
              </a:rPr>
              <a:t>●  진단</a:t>
            </a:r>
          </a:p>
          <a:p>
            <a:pPr>
              <a:spcAft>
                <a:spcPts val="1200"/>
              </a:spcAft>
            </a:pPr>
            <a:r>
              <a:rPr sz="1250" b="0">
                <a:solidFill>
                  <a:srgbClr val="6B6B6B"/>
                </a:solidFill>
                <a:latin typeface="맑은 고딕"/>
              </a:rPr>
              <a:t>     시각: 롤링 평균/분산이 움직이는가 · ACF가 천천히 감쇠하는가 / 검정: ADF 단위근 검정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E1306C"/>
                </a:solidFill>
                <a:latin typeface="맑은 고딕"/>
              </a:rPr>
              <a:t>●  처방: 차분</a:t>
            </a:r>
          </a:p>
          <a:p>
            <a:pPr>
              <a:spcAft>
                <a:spcPts val="1200"/>
              </a:spcAft>
            </a:pPr>
            <a:r>
              <a:rPr sz="1250" b="0">
                <a:solidFill>
                  <a:srgbClr val="6B6B6B"/>
                </a:solidFill>
                <a:latin typeface="맑은 고딕"/>
              </a:rPr>
              <a:t>     1차 차분으로 추세 제거, 계절차분(lag 7)으로 주기 제거 — ARIMA의 d가 바로 차분 횟수</a:t>
            </a:r>
          </a:p>
        </p:txBody>
      </p:sp>
      <p:sp>
        <p:nvSpPr>
          <p:cNvPr id="6" name="Rectangle 5"/>
          <p:cNvSpPr/>
          <p:nvPr/>
        </p:nvSpPr>
        <p:spPr>
          <a:xfrm>
            <a:off x="7269480" y="1417320"/>
            <a:ext cx="4434840" cy="4846320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269480" y="1417320"/>
            <a:ext cx="4434840" cy="457200"/>
          </a:xfrm>
          <a:prstGeom prst="rect">
            <a:avLst/>
          </a:prstGeom>
          <a:solidFill>
            <a:srgbClr val="833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52360" y="1472184"/>
            <a:ext cx="4069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맑은 고딕"/>
              </a:rPr>
              <a:t>핵심 수식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0" y="2057400"/>
            <a:ext cx="3977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50" b="1">
                <a:solidFill>
                  <a:srgbClr val="833AB4"/>
                </a:solidFill>
                <a:latin typeface="맑은 고딕"/>
              </a:rPr>
              <a:t>약정상성</a:t>
            </a:r>
          </a:p>
          <a:p>
            <a:pPr>
              <a:spcAft>
                <a:spcPts val="1200"/>
              </a:spcAft>
            </a:pPr>
            <a:r>
              <a:rPr sz="1350" b="0">
                <a:solidFill>
                  <a:srgbClr val="222222"/>
                </a:solidFill>
                <a:latin typeface="Consolas"/>
              </a:rPr>
              <a:t>E[X_t] = μ,  Var(X_t) = σ² &lt; ∞</a:t>
            </a:r>
          </a:p>
          <a:p>
            <a:pPr>
              <a:spcAft>
                <a:spcPts val="200"/>
              </a:spcAft>
            </a:pPr>
            <a:r>
              <a:rPr sz="1150" b="1">
                <a:solidFill>
                  <a:srgbClr val="833AB4"/>
                </a:solidFill>
                <a:latin typeface="맑은 고딕"/>
              </a:rPr>
              <a:t/>
            </a:r>
          </a:p>
          <a:p>
            <a:pPr>
              <a:spcAft>
                <a:spcPts val="1200"/>
              </a:spcAft>
            </a:pPr>
            <a:r>
              <a:rPr sz="1350" b="0">
                <a:solidFill>
                  <a:srgbClr val="222222"/>
                </a:solidFill>
                <a:latin typeface="Consolas"/>
              </a:rPr>
              <a:t>Cov(X_t, X_{t+k}) = γ(k)  ∀t</a:t>
            </a:r>
          </a:p>
          <a:p>
            <a:pPr>
              <a:spcAft>
                <a:spcPts val="200"/>
              </a:spcAft>
            </a:pPr>
            <a:r>
              <a:rPr sz="1150" b="1">
                <a:solidFill>
                  <a:srgbClr val="833AB4"/>
                </a:solidFill>
                <a:latin typeface="맑은 고딕"/>
              </a:rPr>
              <a:t>1차 차분</a:t>
            </a:r>
          </a:p>
          <a:p>
            <a:pPr>
              <a:spcAft>
                <a:spcPts val="1200"/>
              </a:spcAft>
            </a:pPr>
            <a:r>
              <a:rPr sz="1350" b="0">
                <a:solidFill>
                  <a:srgbClr val="222222"/>
                </a:solidFill>
                <a:latin typeface="Consolas"/>
              </a:rPr>
              <a:t>∇X_t = X_t − X_{t-1}</a:t>
            </a:r>
          </a:p>
          <a:p>
            <a:pPr>
              <a:spcAft>
                <a:spcPts val="200"/>
              </a:spcAft>
            </a:pPr>
            <a:r>
              <a:rPr sz="1150" b="1">
                <a:solidFill>
                  <a:srgbClr val="833AB4"/>
                </a:solidFill>
                <a:latin typeface="맑은 고딕"/>
              </a:rPr>
              <a:t>계절 차분 (주간)</a:t>
            </a:r>
          </a:p>
          <a:p>
            <a:pPr>
              <a:spcAft>
                <a:spcPts val="1200"/>
              </a:spcAft>
            </a:pPr>
            <a:r>
              <a:rPr sz="1350" b="0">
                <a:solidFill>
                  <a:srgbClr val="222222"/>
                </a:solidFill>
                <a:latin typeface="Consolas"/>
              </a:rPr>
              <a:t>∇₇X_t = X_t − X_{t-7}</a:t>
            </a:r>
          </a:p>
          <a:p>
            <a:pPr>
              <a:spcAft>
                <a:spcPts val="200"/>
              </a:spcAft>
            </a:pPr>
            <a:r>
              <a:rPr sz="1150" b="1">
                <a:solidFill>
                  <a:srgbClr val="833AB4"/>
                </a:solidFill>
                <a:latin typeface="맑은 고딕"/>
              </a:rPr>
              <a:t>랜덤워크(비정상)</a:t>
            </a:r>
          </a:p>
          <a:p>
            <a:pPr>
              <a:spcAft>
                <a:spcPts val="1200"/>
              </a:spcAft>
            </a:pPr>
            <a:r>
              <a:rPr sz="1350" b="0">
                <a:solidFill>
                  <a:srgbClr val="222222"/>
                </a:solidFill>
                <a:latin typeface="Consolas"/>
              </a:rPr>
              <a:t>X_t = X_{t-1} + ε_t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4710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6B6B"/>
                </a:solidFill>
                <a:latin typeface="맑은 고딕"/>
              </a:rPr>
              <a:t>시계열 데이터 분석 · 한국 해시태그 트렌드 · 기준일 2026-06-11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54710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84048"/>
            <a:ext cx="164592" cy="502920"/>
          </a:xfrm>
          <a:prstGeom prst="rect">
            <a:avLst/>
          </a:prstGeom>
          <a:solidFill>
            <a:srgbClr val="E1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33AB4"/>
                </a:solidFill>
                <a:latin typeface="Segoe UI"/>
              </a:rPr>
              <a:t>04 · ACF &amp; ARIMA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22222"/>
                </a:solidFill>
                <a:latin typeface="맑은 고딕"/>
              </a:rPr>
              <a:t>자기상관 · 백색잡음 · ARIMA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6309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50" b="1">
                <a:solidFill>
                  <a:srgbClr val="E1306C"/>
                </a:solidFill>
                <a:latin typeface="맑은 고딕"/>
              </a:rPr>
              <a:t>●  ACF</a:t>
            </a:r>
          </a:p>
          <a:p>
            <a:pPr>
              <a:spcAft>
                <a:spcPts val="1200"/>
              </a:spcAft>
            </a:pPr>
            <a:r>
              <a:rPr sz="1250" b="0">
                <a:solidFill>
                  <a:srgbClr val="6B6B6B"/>
                </a:solidFill>
                <a:latin typeface="맑은 고딕"/>
              </a:rPr>
              <a:t>     시차 k에서 자기 자신과의 상관 ρ(k) — 추세면 느리게 감쇠, 주기 s면 lag s마다 스파이크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E1306C"/>
                </a:solidFill>
                <a:latin typeface="맑은 고딕"/>
              </a:rPr>
              <a:t>●  백색잡음</a:t>
            </a:r>
          </a:p>
          <a:p>
            <a:pPr>
              <a:spcAft>
                <a:spcPts val="1200"/>
              </a:spcAft>
            </a:pPr>
            <a:r>
              <a:rPr sz="1250" b="0">
                <a:solidFill>
                  <a:srgbClr val="6B6B6B"/>
                </a:solidFill>
                <a:latin typeface="맑은 고딕"/>
              </a:rPr>
              <a:t>     평균 0, 상관 0인 순수 잡음 — 잔차가 백색잡음이면 모형이 구조를 다 흡수했다는 신호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E1306C"/>
                </a:solidFill>
                <a:latin typeface="맑은 고딕"/>
              </a:rPr>
              <a:t>●  판정 기준</a:t>
            </a:r>
          </a:p>
          <a:p>
            <a:pPr>
              <a:spcAft>
                <a:spcPts val="1200"/>
              </a:spcAft>
            </a:pPr>
            <a:r>
              <a:rPr sz="1250" b="0">
                <a:solidFill>
                  <a:srgbClr val="6B6B6B"/>
                </a:solidFill>
                <a:latin typeface="맑은 고딕"/>
              </a:rPr>
              <a:t>     표본 ACF가 ±1.96/√n 밴드 안이면 해당 시차 상관은 유의하지 않음 (95%)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E1306C"/>
                </a:solidFill>
                <a:latin typeface="맑은 고딕"/>
              </a:rPr>
              <a:t>●  ARIMA(p,d,q)</a:t>
            </a:r>
          </a:p>
          <a:p>
            <a:pPr>
              <a:spcAft>
                <a:spcPts val="1200"/>
              </a:spcAft>
            </a:pPr>
            <a:r>
              <a:rPr sz="1250" b="0">
                <a:solidFill>
                  <a:srgbClr val="6B6B6B"/>
                </a:solidFill>
                <a:latin typeface="맑은 고딕"/>
              </a:rPr>
              <a:t>     AR(p) 과거 값 회귀 + I(d) 차분 + MA(q) 과거 충격 회귀 — 차수는 ACF/PACF로 식별</a:t>
            </a:r>
          </a:p>
          <a:p>
            <a:pPr>
              <a:spcAft>
                <a:spcPts val="600"/>
              </a:spcAft>
            </a:pPr>
            <a:r>
              <a:rPr sz="1550" b="1">
                <a:solidFill>
                  <a:srgbClr val="E1306C"/>
                </a:solidFill>
                <a:latin typeface="맑은 고딕"/>
              </a:rPr>
              <a:t>●  우리의 선택</a:t>
            </a:r>
          </a:p>
          <a:p>
            <a:pPr>
              <a:spcAft>
                <a:spcPts val="1200"/>
              </a:spcAft>
            </a:pPr>
            <a:r>
              <a:rPr sz="1250" b="0">
                <a:solidFill>
                  <a:srgbClr val="6B6B6B"/>
                </a:solidFill>
                <a:latin typeface="맑은 고딕"/>
              </a:rPr>
              <a:t>     수업 범위의 해석 가능한 기본형: 선형추세 + 요일 더미 → ARIMA 대비 단순하지만 구조가 투명</a:t>
            </a:r>
          </a:p>
        </p:txBody>
      </p:sp>
      <p:sp>
        <p:nvSpPr>
          <p:cNvPr id="6" name="Rectangle 5"/>
          <p:cNvSpPr/>
          <p:nvPr/>
        </p:nvSpPr>
        <p:spPr>
          <a:xfrm>
            <a:off x="7269480" y="1417320"/>
            <a:ext cx="4434840" cy="4846320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269480" y="1417320"/>
            <a:ext cx="4434840" cy="457200"/>
          </a:xfrm>
          <a:prstGeom prst="rect">
            <a:avLst/>
          </a:prstGeom>
          <a:solidFill>
            <a:srgbClr val="833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52360" y="1472184"/>
            <a:ext cx="4069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맑은 고딕"/>
              </a:rPr>
              <a:t>핵심 수식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0" y="2057400"/>
            <a:ext cx="3977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50" b="1">
                <a:solidFill>
                  <a:srgbClr val="833AB4"/>
                </a:solidFill>
                <a:latin typeface="맑은 고딕"/>
              </a:rPr>
              <a:t>자기상관함수</a:t>
            </a:r>
          </a:p>
          <a:p>
            <a:pPr>
              <a:spcAft>
                <a:spcPts val="1200"/>
              </a:spcAft>
            </a:pPr>
            <a:r>
              <a:rPr sz="1350" b="0">
                <a:solidFill>
                  <a:srgbClr val="222222"/>
                </a:solidFill>
                <a:latin typeface="Consolas"/>
              </a:rPr>
              <a:t>ρ(k) = γ(k) / γ(0)</a:t>
            </a:r>
          </a:p>
          <a:p>
            <a:pPr>
              <a:spcAft>
                <a:spcPts val="200"/>
              </a:spcAft>
            </a:pPr>
            <a:r>
              <a:rPr sz="1150" b="1">
                <a:solidFill>
                  <a:srgbClr val="833AB4"/>
                </a:solidFill>
                <a:latin typeface="맑은 고딕"/>
              </a:rPr>
              <a:t>표본 ACF 한계</a:t>
            </a:r>
          </a:p>
          <a:p>
            <a:pPr>
              <a:spcAft>
                <a:spcPts val="1200"/>
              </a:spcAft>
            </a:pPr>
            <a:r>
              <a:rPr sz="1350" b="0">
                <a:solidFill>
                  <a:srgbClr val="222222"/>
                </a:solidFill>
                <a:latin typeface="Consolas"/>
              </a:rPr>
              <a:t>±1.96 / √n  (n=161 → ±0.155)</a:t>
            </a:r>
          </a:p>
          <a:p>
            <a:pPr>
              <a:spcAft>
                <a:spcPts val="200"/>
              </a:spcAft>
            </a:pPr>
            <a:r>
              <a:rPr sz="1150" b="1">
                <a:solidFill>
                  <a:srgbClr val="833AB4"/>
                </a:solidFill>
                <a:latin typeface="맑은 고딕"/>
              </a:rPr>
              <a:t>백색잡음</a:t>
            </a:r>
          </a:p>
          <a:p>
            <a:pPr>
              <a:spcAft>
                <a:spcPts val="1200"/>
              </a:spcAft>
            </a:pPr>
            <a:r>
              <a:rPr sz="1350" b="0">
                <a:solidFill>
                  <a:srgbClr val="222222"/>
                </a:solidFill>
                <a:latin typeface="Consolas"/>
              </a:rPr>
              <a:t>ε_t ~ WN(0, σ²)</a:t>
            </a:r>
          </a:p>
          <a:p>
            <a:pPr>
              <a:spcAft>
                <a:spcPts val="200"/>
              </a:spcAft>
            </a:pPr>
            <a:r>
              <a:rPr sz="1150" b="1">
                <a:solidFill>
                  <a:srgbClr val="833AB4"/>
                </a:solidFill>
                <a:latin typeface="맑은 고딕"/>
              </a:rPr>
              <a:t>AR(p)</a:t>
            </a:r>
          </a:p>
          <a:p>
            <a:pPr>
              <a:spcAft>
                <a:spcPts val="1200"/>
              </a:spcAft>
            </a:pPr>
            <a:r>
              <a:rPr sz="1350" b="0">
                <a:solidFill>
                  <a:srgbClr val="222222"/>
                </a:solidFill>
                <a:latin typeface="Consolas"/>
              </a:rPr>
              <a:t>X_t = Σ φ_i X_{t-i} + ε_t</a:t>
            </a:r>
          </a:p>
          <a:p>
            <a:pPr>
              <a:spcAft>
                <a:spcPts val="200"/>
              </a:spcAft>
            </a:pPr>
            <a:r>
              <a:rPr sz="1150" b="1">
                <a:solidFill>
                  <a:srgbClr val="833AB4"/>
                </a:solidFill>
                <a:latin typeface="맑은 고딕"/>
              </a:rPr>
              <a:t>MA(q)</a:t>
            </a:r>
          </a:p>
          <a:p>
            <a:pPr>
              <a:spcAft>
                <a:spcPts val="1200"/>
              </a:spcAft>
            </a:pPr>
            <a:r>
              <a:rPr sz="1350" b="0">
                <a:solidFill>
                  <a:srgbClr val="222222"/>
                </a:solidFill>
                <a:latin typeface="Consolas"/>
              </a:rPr>
              <a:t>X_t = ε_t + Σ θ_j ε_{t-j}</a:t>
            </a:r>
          </a:p>
          <a:p>
            <a:pPr>
              <a:spcAft>
                <a:spcPts val="200"/>
              </a:spcAft>
            </a:pPr>
            <a:r>
              <a:rPr sz="1150" b="1">
                <a:solidFill>
                  <a:srgbClr val="833AB4"/>
                </a:solidFill>
                <a:latin typeface="맑은 고딕"/>
              </a:rPr>
              <a:t>ARIMA</a:t>
            </a:r>
          </a:p>
          <a:p>
            <a:pPr>
              <a:spcAft>
                <a:spcPts val="1200"/>
              </a:spcAft>
            </a:pPr>
            <a:r>
              <a:rPr sz="1350" b="0">
                <a:solidFill>
                  <a:srgbClr val="222222"/>
                </a:solidFill>
                <a:latin typeface="Consolas"/>
              </a:rPr>
              <a:t>∇^d X_t 가 ARMA(p,q)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4710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6B6B"/>
                </a:solidFill>
                <a:latin typeface="맑은 고딕"/>
              </a:rPr>
              <a:t>시계열 데이터 분석 · 한국 해시태그 트렌드 · 기준일 2026-06-11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54710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743200"/>
            <a:ext cx="1280160" cy="109728"/>
          </a:xfrm>
          <a:prstGeom prst="rect">
            <a:avLst/>
          </a:prstGeom>
          <a:solidFill>
            <a:srgbClr val="E1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1306C"/>
                </a:solidFill>
                <a:latin typeface="Segoe UI"/>
              </a:rPr>
              <a:t>PART 2 ·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맑은 고딕"/>
              </a:rPr>
              <a:t>실데이터 분석 — 이론을 데이터에 적용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84048"/>
            <a:ext cx="164592" cy="502920"/>
          </a:xfrm>
          <a:prstGeom prst="rect">
            <a:avLst/>
          </a:prstGeom>
          <a:solidFill>
            <a:srgbClr val="E1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33AB4"/>
                </a:solidFill>
                <a:latin typeface="Segoe UI"/>
              </a:rPr>
              <a:t>05 · RAW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22222"/>
                </a:solidFill>
                <a:latin typeface="맑은 고딕"/>
              </a:rPr>
              <a:t>원시 시계열 관찰</a:t>
            </a:r>
          </a:p>
        </p:txBody>
      </p:sp>
      <p:pic>
        <p:nvPicPr>
          <p:cNvPr id="5" name="Picture 4" descr="01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7772400" cy="39119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458200" y="1325880"/>
            <a:ext cx="3246120" cy="4937760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59368" y="1508760"/>
            <a:ext cx="2880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833AB4"/>
                </a:solidFill>
                <a:latin typeface="맑은 고딕"/>
              </a:rPr>
              <a:t>읽는 법</a:t>
            </a:r>
          </a:p>
          <a:p>
            <a:pPr>
              <a:spcAft>
                <a:spcPts val="1000"/>
              </a:spcAft>
            </a:pPr>
            <a:r>
              <a:rPr sz="1250" b="0">
                <a:solidFill>
                  <a:srgbClr val="222222"/>
                </a:solidFill>
                <a:latin typeface="맑은 고딕"/>
              </a:rPr>
              <a:t>• 9개 태그의 일별 관심도 원계열</a:t>
            </a:r>
          </a:p>
          <a:p>
            <a:pPr>
              <a:spcAft>
                <a:spcPts val="1000"/>
              </a:spcAft>
            </a:pPr>
            <a:r>
              <a:rPr sz="1250" b="0">
                <a:solidFill>
                  <a:srgbClr val="222222"/>
                </a:solidFill>
                <a:latin typeface="맑은 고딕"/>
              </a:rPr>
              <a:t>• 톱니 모양 = 주 7일 계절성</a:t>
            </a:r>
          </a:p>
          <a:p>
            <a:pPr>
              <a:spcAft>
                <a:spcPts val="1000"/>
              </a:spcAft>
            </a:pPr>
            <a:r>
              <a:rPr sz="1250" b="0">
                <a:solidFill>
                  <a:srgbClr val="222222"/>
                </a:solidFill>
                <a:latin typeface="맑은 고딕"/>
              </a:rPr>
              <a:t>• #캠핑·#피크닉: 봄에 큰 산(계절 추세)</a:t>
            </a:r>
          </a:p>
          <a:p>
            <a:pPr>
              <a:spcAft>
                <a:spcPts val="1000"/>
              </a:spcAft>
            </a:pPr>
            <a:r>
              <a:rPr sz="1250" b="0">
                <a:solidFill>
                  <a:srgbClr val="222222"/>
                </a:solidFill>
                <a:latin typeface="맑은 고딕"/>
              </a:rPr>
              <a:t>• #카페: 1월 고점 후 하락</a:t>
            </a:r>
          </a:p>
          <a:p>
            <a:pPr>
              <a:spcAft>
                <a:spcPts val="1000"/>
              </a:spcAft>
            </a:pPr>
            <a:r>
              <a:rPr sz="1250" b="0">
                <a:solidFill>
                  <a:srgbClr val="222222"/>
                </a:solidFill>
                <a:latin typeface="맑은 고딕"/>
              </a:rPr>
              <a:t>• 5월 중순 #등산 스파이크 = 연휴 외생 이벤트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4710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6B6B"/>
                </a:solidFill>
                <a:latin typeface="맑은 고딕"/>
              </a:rPr>
              <a:t>시계열 데이터 분석 · 한국 해시태그 트렌드 · 기준일 2026-06-11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4710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84048"/>
            <a:ext cx="164592" cy="502920"/>
          </a:xfrm>
          <a:prstGeom prst="rect">
            <a:avLst/>
          </a:prstGeom>
          <a:solidFill>
            <a:srgbClr val="E1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33AB4"/>
                </a:solidFill>
                <a:latin typeface="Segoe UI"/>
              </a:rPr>
              <a:t>05 · SMOOTHING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22222"/>
                </a:solidFill>
                <a:latin typeface="맑은 고딕"/>
              </a:rPr>
              <a:t>이동평균 평활화</a:t>
            </a:r>
          </a:p>
        </p:txBody>
      </p:sp>
      <p:pic>
        <p:nvPicPr>
          <p:cNvPr id="5" name="Picture 4" descr="02_moving_a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7772400" cy="39119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458200" y="1325880"/>
            <a:ext cx="3246120" cy="4937760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59368" y="1508760"/>
            <a:ext cx="2880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833AB4"/>
                </a:solidFill>
                <a:latin typeface="맑은 고딕"/>
              </a:rPr>
              <a:t>읽는 법</a:t>
            </a:r>
          </a:p>
          <a:p>
            <a:pPr>
              <a:spcAft>
                <a:spcPts val="1000"/>
              </a:spcAft>
            </a:pPr>
            <a:r>
              <a:rPr sz="1250" b="0">
                <a:solidFill>
                  <a:srgbClr val="222222"/>
                </a:solidFill>
                <a:latin typeface="맑은 고딕"/>
              </a:rPr>
              <a:t>• 포커스: #등산 (6월 모멘텀 1위)</a:t>
            </a:r>
          </a:p>
          <a:p>
            <a:pPr>
              <a:spcAft>
                <a:spcPts val="1000"/>
              </a:spcAft>
            </a:pPr>
            <a:r>
              <a:rPr sz="1250" b="0">
                <a:solidFill>
                  <a:srgbClr val="222222"/>
                </a:solidFill>
                <a:latin typeface="맑은 고딕"/>
              </a:rPr>
              <a:t>• 회색 = 원계열(노이즈)</a:t>
            </a:r>
          </a:p>
          <a:p>
            <a:pPr>
              <a:spcAft>
                <a:spcPts val="1000"/>
              </a:spcAft>
            </a:pPr>
            <a:r>
              <a:rPr sz="1250" b="0">
                <a:solidFill>
                  <a:srgbClr val="222222"/>
                </a:solidFill>
                <a:latin typeface="맑은 고딕"/>
              </a:rPr>
              <a:t>• 7일 MA = 주간 주기 상쇄</a:t>
            </a:r>
          </a:p>
          <a:p>
            <a:pPr>
              <a:spcAft>
                <a:spcPts val="1000"/>
              </a:spcAft>
            </a:pPr>
            <a:r>
              <a:rPr sz="1250" b="0">
                <a:solidFill>
                  <a:srgbClr val="222222"/>
                </a:solidFill>
                <a:latin typeface="맑은 고딕"/>
              </a:rPr>
              <a:t>• 28일 MA = 장기 추세만</a:t>
            </a:r>
          </a:p>
          <a:p>
            <a:pPr>
              <a:spcAft>
                <a:spcPts val="1000"/>
              </a:spcAft>
            </a:pPr>
            <a:r>
              <a:rPr sz="1250" b="0">
                <a:solidFill>
                  <a:srgbClr val="222222"/>
                </a:solidFill>
                <a:latin typeface="맑은 고딕"/>
              </a:rPr>
              <a:t>• 1~5월 꾸준한 우상향 확인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4710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6B6B"/>
                </a:solidFill>
                <a:latin typeface="맑은 고딕"/>
              </a:rPr>
              <a:t>시계열 데이터 분석 · 한국 해시태그 트렌드 · 기준일 2026-06-11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4710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84048"/>
            <a:ext cx="164592" cy="502920"/>
          </a:xfrm>
          <a:prstGeom prst="rect">
            <a:avLst/>
          </a:prstGeom>
          <a:solidFill>
            <a:srgbClr val="E1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33AB4"/>
                </a:solidFill>
                <a:latin typeface="Segoe UI"/>
              </a:rPr>
              <a:t>05 · STATIONARITY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22222"/>
                </a:solidFill>
                <a:latin typeface="맑은 고딕"/>
              </a:rPr>
              <a:t>정상성 진단과 차분</a:t>
            </a:r>
          </a:p>
        </p:txBody>
      </p:sp>
      <p:pic>
        <p:nvPicPr>
          <p:cNvPr id="5" name="Picture 4" descr="03_stationa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7772400" cy="468402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458200" y="1325880"/>
            <a:ext cx="3246120" cy="4937760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59368" y="1508760"/>
            <a:ext cx="2880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833AB4"/>
                </a:solidFill>
                <a:latin typeface="맑은 고딕"/>
              </a:rPr>
              <a:t>읽는 법</a:t>
            </a:r>
          </a:p>
          <a:p>
            <a:pPr>
              <a:spcAft>
                <a:spcPts val="1000"/>
              </a:spcAft>
            </a:pPr>
            <a:r>
              <a:rPr sz="1250" b="0">
                <a:solidFill>
                  <a:srgbClr val="222222"/>
                </a:solidFill>
                <a:latin typeface="맑은 고딕"/>
              </a:rPr>
              <a:t>• 위: 롤링 평균이 계속 상승 → 평균 비불변 = 비정상</a:t>
            </a:r>
          </a:p>
          <a:p>
            <a:pPr>
              <a:spcAft>
                <a:spcPts val="1000"/>
              </a:spcAft>
            </a:pPr>
            <a:r>
              <a:rPr sz="1250" b="0">
                <a:solidFill>
                  <a:srgbClr val="222222"/>
                </a:solidFill>
                <a:latin typeface="맑은 고딕"/>
              </a:rPr>
              <a:t>• 롤링 표준편차도 5월에 점프</a:t>
            </a:r>
          </a:p>
          <a:p>
            <a:pPr>
              <a:spcAft>
                <a:spcPts val="1000"/>
              </a:spcAft>
            </a:pPr>
            <a:r>
              <a:rPr sz="1250" b="0">
                <a:solidFill>
                  <a:srgbClr val="222222"/>
                </a:solidFill>
                <a:latin typeface="맑은 고딕"/>
              </a:rPr>
              <a:t>• 아래: 1차 차분 후 평균이 0에 고정</a:t>
            </a:r>
          </a:p>
          <a:p>
            <a:pPr>
              <a:spcAft>
                <a:spcPts val="1000"/>
              </a:spcAft>
            </a:pPr>
            <a:r>
              <a:rPr sz="1250" b="0">
                <a:solidFill>
                  <a:srgbClr val="222222"/>
                </a:solidFill>
                <a:latin typeface="맑은 고딕"/>
              </a:rPr>
              <a:t>• 차분으로 (약)정상성 확보 → ARIMA의 d=1에 해당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4710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6B6B"/>
                </a:solidFill>
                <a:latin typeface="맑은 고딕"/>
              </a:rPr>
              <a:t>시계열 데이터 분석 · 한국 해시태그 트렌드 · 기준일 2026-06-11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4710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84048"/>
            <a:ext cx="164592" cy="502920"/>
          </a:xfrm>
          <a:prstGeom prst="rect">
            <a:avLst/>
          </a:prstGeom>
          <a:solidFill>
            <a:srgbClr val="E1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33AB4"/>
                </a:solidFill>
                <a:latin typeface="Segoe UI"/>
              </a:rPr>
              <a:t>05 · ACF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22222"/>
                </a:solidFill>
                <a:latin typeface="맑은 고딕"/>
              </a:rPr>
              <a:t>자기상관함수(ACF)</a:t>
            </a:r>
          </a:p>
        </p:txBody>
      </p:sp>
      <p:pic>
        <p:nvPicPr>
          <p:cNvPr id="5" name="Picture 4" descr="04_a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7772400" cy="350530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458200" y="1325880"/>
            <a:ext cx="3246120" cy="4937760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59368" y="1508760"/>
            <a:ext cx="2880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833AB4"/>
                </a:solidFill>
                <a:latin typeface="맑은 고딕"/>
              </a:rPr>
              <a:t>읽는 법</a:t>
            </a:r>
          </a:p>
          <a:p>
            <a:pPr>
              <a:spcAft>
                <a:spcPts val="1000"/>
              </a:spcAft>
            </a:pPr>
            <a:r>
              <a:rPr sz="1250" b="0">
                <a:solidFill>
                  <a:srgbClr val="222222"/>
                </a:solidFill>
                <a:latin typeface="맑은 고딕"/>
              </a:rPr>
              <a:t>• 왼쪽(원계열): 천천히 감쇠 → 추세 지배 = 비정상 신호</a:t>
            </a:r>
          </a:p>
          <a:p>
            <a:pPr>
              <a:spcAft>
                <a:spcPts val="1000"/>
              </a:spcAft>
            </a:pPr>
            <a:r>
              <a:rPr sz="1250" b="0">
                <a:solidFill>
                  <a:srgbClr val="222222"/>
                </a:solidFill>
                <a:latin typeface="맑은 고딕"/>
              </a:rPr>
              <a:t>• 오른쪽(차분): lag 7·14·21 스파이크 → 주간 계절성</a:t>
            </a:r>
          </a:p>
          <a:p>
            <a:pPr>
              <a:spcAft>
                <a:spcPts val="1000"/>
              </a:spcAft>
            </a:pPr>
            <a:r>
              <a:rPr sz="1250" b="0">
                <a:solidFill>
                  <a:srgbClr val="222222"/>
                </a:solidFill>
                <a:latin typeface="맑은 고딕"/>
              </a:rPr>
              <a:t>• 점선 = ±1.96/√n 백색잡음 한계</a:t>
            </a:r>
          </a:p>
          <a:p>
            <a:pPr>
              <a:spcAft>
                <a:spcPts val="1000"/>
              </a:spcAft>
            </a:pPr>
            <a:r>
              <a:rPr sz="1250" b="0">
                <a:solidFill>
                  <a:srgbClr val="222222"/>
                </a:solidFill>
                <a:latin typeface="맑은 고딕"/>
              </a:rPr>
              <a:t>• 이론 그대로: 차분이 추세를 지우자 주기가 드러남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4710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6B6B"/>
                </a:solidFill>
                <a:latin typeface="맑은 고딕"/>
              </a:rPr>
              <a:t>시계열 데이터 분석 · 한국 해시태그 트렌드 · 기준일 2026-06-11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4710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84048"/>
            <a:ext cx="164592" cy="502920"/>
          </a:xfrm>
          <a:prstGeom prst="rect">
            <a:avLst/>
          </a:prstGeom>
          <a:solidFill>
            <a:srgbClr val="E1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33AB4"/>
                </a:solidFill>
                <a:latin typeface="Segoe UI"/>
              </a:rPr>
              <a:t>06 · DECOMPOSITION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22222"/>
                </a:solidFill>
                <a:latin typeface="맑은 고딕"/>
              </a:rPr>
              <a:t>가법 분해</a:t>
            </a:r>
          </a:p>
        </p:txBody>
      </p:sp>
      <p:pic>
        <p:nvPicPr>
          <p:cNvPr id="5" name="Picture 4" descr="05_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7772400" cy="503959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458200" y="1325880"/>
            <a:ext cx="3246120" cy="4937760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59368" y="1508760"/>
            <a:ext cx="2880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833AB4"/>
                </a:solidFill>
                <a:latin typeface="맑은 고딕"/>
              </a:rPr>
              <a:t>읽는 법</a:t>
            </a:r>
          </a:p>
          <a:p>
            <a:pPr>
              <a:spcAft>
                <a:spcPts val="1000"/>
              </a:spcAft>
            </a:pPr>
            <a:r>
              <a:rPr sz="1250" b="0">
                <a:solidFill>
                  <a:srgbClr val="222222"/>
                </a:solidFill>
                <a:latin typeface="맑은 고딕"/>
              </a:rPr>
              <a:t>• X = 추세 + 계절 + 잔차로 분리</a:t>
            </a:r>
          </a:p>
          <a:p>
            <a:pPr>
              <a:spcAft>
                <a:spcPts val="1000"/>
              </a:spcAft>
            </a:pPr>
            <a:r>
              <a:rPr sz="1250" b="0">
                <a:solidFill>
                  <a:srgbClr val="222222"/>
                </a:solidFill>
                <a:latin typeface="맑은 고딕"/>
              </a:rPr>
              <a:t>• 추세: 1월~5월 +60% 수준 상승</a:t>
            </a:r>
          </a:p>
          <a:p>
            <a:pPr>
              <a:spcAft>
                <a:spcPts val="1000"/>
              </a:spcAft>
            </a:pPr>
            <a:r>
              <a:rPr sz="1250" b="0">
                <a:solidFill>
                  <a:srgbClr val="222222"/>
                </a:solidFill>
                <a:latin typeface="맑은 고딕"/>
              </a:rPr>
              <a:t>• 계절: 주말 양(+), 주중 음(−) 규칙 진동</a:t>
            </a:r>
          </a:p>
          <a:p>
            <a:pPr>
              <a:spcAft>
                <a:spcPts val="1000"/>
              </a:spcAft>
            </a:pPr>
            <a:r>
              <a:rPr sz="1250" b="0">
                <a:solidFill>
                  <a:srgbClr val="222222"/>
                </a:solidFill>
                <a:latin typeface="맑은 고딕"/>
              </a:rPr>
              <a:t>• 잔차: 5월 연휴 스파이크 외엔 백색잡음에 가까움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4710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6B6B"/>
                </a:solidFill>
                <a:latin typeface="맑은 고딕"/>
              </a:rPr>
              <a:t>시계열 데이터 분석 · 한국 해시태그 트렌드 · 기준일 2026-06-11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4710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84048"/>
            <a:ext cx="164592" cy="502920"/>
          </a:xfrm>
          <a:prstGeom prst="rect">
            <a:avLst/>
          </a:prstGeom>
          <a:solidFill>
            <a:srgbClr val="E1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33AB4"/>
                </a:solidFill>
                <a:latin typeface="Segoe UI"/>
              </a:rPr>
              <a:t>06 · SEASONALITY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22222"/>
                </a:solidFill>
                <a:latin typeface="맑은 고딕"/>
              </a:rPr>
              <a:t>주간 계절성 프로파일</a:t>
            </a:r>
          </a:p>
        </p:txBody>
      </p:sp>
      <p:pic>
        <p:nvPicPr>
          <p:cNvPr id="5" name="Picture 4" descr="06_weekly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7772400" cy="39119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458200" y="1325880"/>
            <a:ext cx="3246120" cy="4937760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59368" y="1508760"/>
            <a:ext cx="2880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833AB4"/>
                </a:solidFill>
                <a:latin typeface="맑은 고딕"/>
              </a:rPr>
              <a:t>읽는 법</a:t>
            </a:r>
          </a:p>
          <a:p>
            <a:pPr>
              <a:spcAft>
                <a:spcPts val="1000"/>
              </a:spcAft>
            </a:pPr>
            <a:r>
              <a:rPr sz="1250" b="0">
                <a:solidFill>
                  <a:srgbClr val="222222"/>
                </a:solidFill>
                <a:latin typeface="맑은 고딕"/>
              </a:rPr>
              <a:t>• 요일 평균을 자기 평균=100으로 정규화</a:t>
            </a:r>
          </a:p>
          <a:p>
            <a:pPr>
              <a:spcAft>
                <a:spcPts val="1000"/>
              </a:spcAft>
            </a:pPr>
            <a:r>
              <a:rPr sz="1250" b="0">
                <a:solidFill>
                  <a:srgbClr val="222222"/>
                </a:solidFill>
                <a:latin typeface="맑은 고딕"/>
              </a:rPr>
              <a:t>• #등산·#피크닉·#캠핑: 주말(토) 피크</a:t>
            </a:r>
          </a:p>
          <a:p>
            <a:pPr>
              <a:spcAft>
                <a:spcPts val="1000"/>
              </a:spcAft>
            </a:pPr>
            <a:r>
              <a:rPr sz="1250" b="0">
                <a:solidFill>
                  <a:srgbClr val="222222"/>
                </a:solidFill>
                <a:latin typeface="맑은 고딕"/>
              </a:rPr>
              <a:t>• #다이어트: 월요일 피크 — '월요일 결심' 효과</a:t>
            </a:r>
          </a:p>
          <a:p>
            <a:pPr>
              <a:spcAft>
                <a:spcPts val="1000"/>
              </a:spcAft>
            </a:pPr>
            <a:r>
              <a:rPr sz="1250" b="0">
                <a:solidFill>
                  <a:srgbClr val="222222"/>
                </a:solidFill>
                <a:latin typeface="맑은 고딕"/>
              </a:rPr>
              <a:t>• 게시 타이밍 설계의 직접 근거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4710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6B6B"/>
                </a:solidFill>
                <a:latin typeface="맑은 고딕"/>
              </a:rPr>
              <a:t>시계열 데이터 분석 · 한국 해시태그 트렌드 · 기준일 2026-06-11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4710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맑은 고딕"/>
              </a:rPr>
              <a:t>14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84048"/>
            <a:ext cx="164592" cy="502920"/>
          </a:xfrm>
          <a:prstGeom prst="rect">
            <a:avLst/>
          </a:prstGeom>
          <a:solidFill>
            <a:srgbClr val="E1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33AB4"/>
                </a:solidFill>
                <a:latin typeface="Segoe UI"/>
              </a:rPr>
              <a:t>06 · MOMENTUM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22222"/>
                </a:solidFill>
                <a:latin typeface="맑은 고딕"/>
              </a:rPr>
              <a:t>성장 모멘텀</a:t>
            </a:r>
          </a:p>
        </p:txBody>
      </p:sp>
      <p:pic>
        <p:nvPicPr>
          <p:cNvPr id="5" name="Picture 4" descr="07_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7772400" cy="39119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458200" y="1325880"/>
            <a:ext cx="3246120" cy="4937760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59368" y="1508760"/>
            <a:ext cx="2880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833AB4"/>
                </a:solidFill>
                <a:latin typeface="맑은 고딕"/>
              </a:rPr>
              <a:t>읽는 법</a:t>
            </a:r>
          </a:p>
          <a:p>
            <a:pPr>
              <a:spcAft>
                <a:spcPts val="1000"/>
              </a:spcAft>
            </a:pPr>
            <a:r>
              <a:rPr sz="1250" b="0">
                <a:solidFill>
                  <a:srgbClr val="222222"/>
                </a:solidFill>
                <a:latin typeface="맑은 고딕"/>
              </a:rPr>
              <a:t>• 1월 첫 주=100 지수화</a:t>
            </a:r>
          </a:p>
          <a:p>
            <a:pPr>
              <a:spcAft>
                <a:spcPts val="1000"/>
              </a:spcAft>
            </a:pPr>
            <a:r>
              <a:rPr sz="1250" b="0">
                <a:solidFill>
                  <a:srgbClr val="222222"/>
                </a:solidFill>
                <a:latin typeface="맑은 고딕"/>
              </a:rPr>
              <a:t>• 연초 대비: #피크닉 +70% · #캠핑 +61% · #등산 +48%</a:t>
            </a:r>
          </a:p>
          <a:p>
            <a:pPr>
              <a:spcAft>
                <a:spcPts val="1000"/>
              </a:spcAft>
            </a:pPr>
            <a:r>
              <a:rPr sz="1250" b="0">
                <a:solidFill>
                  <a:srgbClr val="222222"/>
                </a:solidFill>
                <a:latin typeface="맑은 고딕"/>
              </a:rPr>
              <a:t>• 최근 30일: #등산 +7.9% · #클라이밍 +5.5% 만 상승</a:t>
            </a:r>
          </a:p>
          <a:p>
            <a:pPr>
              <a:spcAft>
                <a:spcPts val="1000"/>
              </a:spcAft>
            </a:pPr>
            <a:r>
              <a:rPr sz="1250" b="0">
                <a:solidFill>
                  <a:srgbClr val="222222"/>
                </a:solidFill>
                <a:latin typeface="맑은 고딕"/>
              </a:rPr>
              <a:t>• 봄 태그(피크닉·캠핑)는 5월 피크 통과 후 하락 전환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4710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6B6B"/>
                </a:solidFill>
                <a:latin typeface="맑은 고딕"/>
              </a:rPr>
              <a:t>시계열 데이터 분석 · 한국 해시태그 트렌드 · 기준일 2026-06-11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4710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맑은 고딕"/>
              </a:rPr>
              <a:t>15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84048"/>
            <a:ext cx="164592" cy="502920"/>
          </a:xfrm>
          <a:prstGeom prst="rect">
            <a:avLst/>
          </a:prstGeom>
          <a:solidFill>
            <a:srgbClr val="E1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33AB4"/>
                </a:solidFill>
                <a:latin typeface="Segoe UI"/>
              </a:rPr>
              <a:t>06 · FORECAST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22222"/>
                </a:solidFill>
                <a:latin typeface="맑은 고딕"/>
              </a:rPr>
              <a:t>14일 예측</a:t>
            </a:r>
          </a:p>
        </p:txBody>
      </p:sp>
      <p:pic>
        <p:nvPicPr>
          <p:cNvPr id="5" name="Picture 4" descr="08_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7772400" cy="391712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458200" y="1325880"/>
            <a:ext cx="3246120" cy="4937760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59368" y="1508760"/>
            <a:ext cx="2880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833AB4"/>
                </a:solidFill>
                <a:latin typeface="맑은 고딕"/>
              </a:rPr>
              <a:t>읽는 법</a:t>
            </a:r>
          </a:p>
          <a:p>
            <a:pPr>
              <a:spcAft>
                <a:spcPts val="1000"/>
              </a:spcAft>
            </a:pPr>
            <a:r>
              <a:rPr sz="1250" b="0">
                <a:solidFill>
                  <a:srgbClr val="222222"/>
                </a:solidFill>
                <a:latin typeface="맑은 고딕"/>
              </a:rPr>
              <a:t>• 모형: 선형추세 + 요일 계절성 (최근 8주 적합)</a:t>
            </a:r>
          </a:p>
          <a:p>
            <a:pPr>
              <a:spcAft>
                <a:spcPts val="1000"/>
              </a:spcAft>
            </a:pPr>
            <a:r>
              <a:rPr sz="1250" b="0">
                <a:solidFill>
                  <a:srgbClr val="222222"/>
                </a:solidFill>
                <a:latin typeface="맑은 고딕"/>
              </a:rPr>
              <a:t>• 점선 = 6/11~6/24 예측 경로</a:t>
            </a:r>
          </a:p>
          <a:p>
            <a:pPr>
              <a:spcAft>
                <a:spcPts val="1000"/>
              </a:spcAft>
            </a:pPr>
            <a:r>
              <a:rPr sz="1250" b="0">
                <a:solidFill>
                  <a:srgbClr val="222222"/>
                </a:solidFill>
                <a:latin typeface="맑은 고딕"/>
              </a:rPr>
              <a:t>• 음영 = 95% 예측구간 (잔차 분산 기반)</a:t>
            </a:r>
          </a:p>
          <a:p>
            <a:pPr>
              <a:spcAft>
                <a:spcPts val="1000"/>
              </a:spcAft>
            </a:pPr>
            <a:r>
              <a:rPr sz="1250" b="0">
                <a:solidFill>
                  <a:srgbClr val="222222"/>
                </a:solidFill>
                <a:latin typeface="맑은 고딕"/>
              </a:rPr>
              <a:t>• 주말마다 솟는 요일 패턴까지 재현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4710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6B6B"/>
                </a:solidFill>
                <a:latin typeface="맑은 고딕"/>
              </a:rPr>
              <a:t>시계열 데이터 분석 · 한국 해시태그 트렌드 · 기준일 2026-06-11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4710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맑은 고딕"/>
              </a:rPr>
              <a:t>16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743200"/>
            <a:ext cx="1280160" cy="109728"/>
          </a:xfrm>
          <a:prstGeom prst="rect">
            <a:avLst/>
          </a:prstGeom>
          <a:solidFill>
            <a:srgbClr val="E1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1306C"/>
                </a:solidFill>
                <a:latin typeface="Segoe U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맑은 고딕"/>
              </a:rPr>
              <a:t>그래서, 지금 뭘 써야 하나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84048"/>
            <a:ext cx="164592" cy="502920"/>
          </a:xfrm>
          <a:prstGeom prst="rect">
            <a:avLst/>
          </a:prstGeom>
          <a:solidFill>
            <a:srgbClr val="E1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33AB4"/>
                </a:solidFill>
                <a:latin typeface="Segoe UI"/>
              </a:rPr>
              <a:t>07 · NOW TRENDING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22222"/>
                </a:solidFill>
                <a:latin typeface="맑은 고딕"/>
              </a:rPr>
              <a:t>2026-06-11 기준 트렌딩 해시태그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5394960" cy="1920240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128016" cy="1920240"/>
          </a:xfrm>
          <a:prstGeom prst="rect">
            <a:avLst/>
          </a:prstGeom>
          <a:solidFill>
            <a:srgbClr val="E1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81912"/>
            <a:ext cx="4846320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1306C"/>
                </a:solidFill>
                <a:latin typeface="맑은 고딕"/>
              </a:rPr>
              <a:t>📈 지금 상승 중 (최근 30일 모멘텀 +)</a:t>
            </a:r>
          </a:p>
          <a:p>
            <a:r>
              <a:rPr sz="2200" b="1">
                <a:solidFill>
                  <a:srgbClr val="222222"/>
                </a:solidFill>
                <a:latin typeface="맑은 고딕"/>
              </a:rPr>
              <a:t>#등산  #클라이밍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6B6B6B"/>
                </a:solidFill>
                <a:latin typeface="맑은 고딕"/>
              </a:rPr>
              <a:t>등산 +7.9%, 클라이밍 +5.5% — 초여름에도 모멘텀 유지, 지금 올라탈 태그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417320"/>
            <a:ext cx="5394960" cy="1920240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5080" y="1417320"/>
            <a:ext cx="128016" cy="1920240"/>
          </a:xfrm>
          <a:prstGeom prst="rect">
            <a:avLst/>
          </a:prstGeom>
          <a:solidFill>
            <a:srgbClr val="833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581912"/>
            <a:ext cx="4846320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833AB4"/>
                </a:solidFill>
                <a:latin typeface="맑은 고딕"/>
              </a:rPr>
              <a:t>🌊 피크 통과 (계절성 하락 전환)</a:t>
            </a:r>
          </a:p>
          <a:p>
            <a:r>
              <a:rPr sz="2200" b="1">
                <a:solidFill>
                  <a:srgbClr val="222222"/>
                </a:solidFill>
                <a:latin typeface="맑은 고딕"/>
              </a:rPr>
              <a:t>#피크닉  #캠핑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6B6B6B"/>
                </a:solidFill>
                <a:latin typeface="맑은 고딕"/>
              </a:rPr>
              <a:t>연초 대비 +70%/+61%로 컸지만 최근 30일 -21%/-17% — 봄 수요 종료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611880"/>
            <a:ext cx="5394960" cy="1920240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3611880"/>
            <a:ext cx="128016" cy="192024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776472"/>
            <a:ext cx="4846320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2222"/>
                </a:solidFill>
                <a:latin typeface="맑은 고딕"/>
              </a:rPr>
              <a:t>💪 안정 수요 (시즌 진입)</a:t>
            </a:r>
          </a:p>
          <a:p>
            <a:r>
              <a:rPr sz="2200" b="1">
                <a:solidFill>
                  <a:srgbClr val="222222"/>
                </a:solidFill>
                <a:latin typeface="맑은 고딕"/>
              </a:rPr>
              <a:t>#다이어트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6B6B6B"/>
                </a:solidFill>
                <a:latin typeface="맑은 고딕"/>
              </a:rPr>
              <a:t>최근 30일 +0.4%로 하락 멈춤 — 여름 직전 수요 재점화 구간, 월요일 피크 활용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3611880"/>
            <a:ext cx="5394960" cy="1920240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3611880"/>
            <a:ext cx="128016" cy="192024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3776472"/>
            <a:ext cx="4846320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6B6B6B"/>
                </a:solidFill>
                <a:latin typeface="맑은 고딕"/>
              </a:rPr>
              <a:t>📉 약세 지속</a:t>
            </a:r>
          </a:p>
          <a:p>
            <a:r>
              <a:rPr sz="2200" b="1">
                <a:solidFill>
                  <a:srgbClr val="222222"/>
                </a:solidFill>
                <a:latin typeface="맑은 고딕"/>
              </a:rPr>
              <a:t>#카페  #국내여행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6B6B6B"/>
                </a:solidFill>
                <a:latin typeface="맑은 고딕"/>
              </a:rPr>
              <a:t>연초 대비 -50%/-15% — 단독 태그보다 상승 태그와 조합 권장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654710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6B6B"/>
                </a:solidFill>
                <a:latin typeface="맑은 고딕"/>
              </a:rPr>
              <a:t>시계열 데이터 분석 · 한국 해시태그 트렌드 · 기준일 2026-06-11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54710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맑은 고딕"/>
              </a:rPr>
              <a:t>17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84048"/>
            <a:ext cx="164592" cy="502920"/>
          </a:xfrm>
          <a:prstGeom prst="rect">
            <a:avLst/>
          </a:prstGeom>
          <a:solidFill>
            <a:srgbClr val="E1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33AB4"/>
                </a:solidFill>
                <a:latin typeface="Segoe UI"/>
              </a:rPr>
              <a:t>07 ·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22222"/>
                </a:solidFill>
                <a:latin typeface="맑은 고딕"/>
              </a:rPr>
              <a:t>콘텐츠 활용 전략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71600"/>
            <a:ext cx="10789920" cy="822960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10332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222222"/>
                </a:solidFill>
                <a:latin typeface="맑은 고딕"/>
              </a:rPr>
              <a:t>시계열 인사이트 → 게시물 전략: 무엇을(태그), 언제(요일), 어떻게(조합)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50" b="1">
                <a:solidFill>
                  <a:srgbClr val="E1306C"/>
                </a:solidFill>
                <a:latin typeface="맑은 고딕"/>
              </a:rPr>
              <a:t>●  주력 태그</a:t>
            </a:r>
          </a:p>
          <a:p>
            <a:pPr>
              <a:spcAft>
                <a:spcPts val="1300"/>
              </a:spcAft>
            </a:pPr>
            <a:r>
              <a:rPr sz="1350" b="0">
                <a:solidFill>
                  <a:srgbClr val="6B6B6B"/>
                </a:solidFill>
                <a:latin typeface="맑은 고딕"/>
              </a:rPr>
              <a:t>     #등산 #클라이밍 중심 콘텐츠 — 상승 모멘텀 구간에 게시해 노출 탄력 확보</a:t>
            </a:r>
          </a:p>
          <a:p>
            <a:pPr>
              <a:spcAft>
                <a:spcPts val="1000"/>
              </a:spcAft>
            </a:pPr>
            <a:r>
              <a:rPr sz="1650" b="1">
                <a:solidFill>
                  <a:srgbClr val="E1306C"/>
                </a:solidFill>
                <a:latin typeface="맑은 고딕"/>
              </a:rPr>
              <a:t>●  게시 타이밍</a:t>
            </a:r>
          </a:p>
          <a:p>
            <a:pPr>
              <a:spcAft>
                <a:spcPts val="1300"/>
              </a:spcAft>
            </a:pPr>
            <a:r>
              <a:rPr sz="1350" b="0">
                <a:solidFill>
                  <a:srgbClr val="6B6B6B"/>
                </a:solidFill>
                <a:latin typeface="맑은 고딕"/>
              </a:rPr>
              <a:t>     아웃도어 태그는 금~토 오전(주말 피크 직전), #다이어트는 일 저녁~월 오전('월요일 결심' 수요 선점)</a:t>
            </a:r>
          </a:p>
          <a:p>
            <a:pPr>
              <a:spcAft>
                <a:spcPts val="1000"/>
              </a:spcAft>
            </a:pPr>
            <a:r>
              <a:rPr sz="1650" b="1">
                <a:solidFill>
                  <a:srgbClr val="E1306C"/>
                </a:solidFill>
                <a:latin typeface="맑은 고딕"/>
              </a:rPr>
              <a:t>●  태그 조합</a:t>
            </a:r>
          </a:p>
          <a:p>
            <a:pPr>
              <a:spcAft>
                <a:spcPts val="1300"/>
              </a:spcAft>
            </a:pPr>
            <a:r>
              <a:rPr sz="1350" b="0">
                <a:solidFill>
                  <a:srgbClr val="6B6B6B"/>
                </a:solidFill>
                <a:latin typeface="맑은 고딕"/>
              </a:rPr>
              <a:t>     상승 태그 + 안정 태그 묶기: #등산 × #다이어트(여름 준비), #클라이밍 × #카페(실내 연계)</a:t>
            </a:r>
          </a:p>
          <a:p>
            <a:pPr>
              <a:spcAft>
                <a:spcPts val="1000"/>
              </a:spcAft>
            </a:pPr>
            <a:r>
              <a:rPr sz="1650" b="1">
                <a:solidFill>
                  <a:srgbClr val="E1306C"/>
                </a:solidFill>
                <a:latin typeface="맑은 고딕"/>
              </a:rPr>
              <a:t>●  리스크 관리</a:t>
            </a:r>
          </a:p>
          <a:p>
            <a:pPr>
              <a:spcAft>
                <a:spcPts val="1300"/>
              </a:spcAft>
            </a:pPr>
            <a:r>
              <a:rPr sz="1350" b="0">
                <a:solidFill>
                  <a:srgbClr val="6B6B6B"/>
                </a:solidFill>
                <a:latin typeface="맑은 고딕"/>
              </a:rPr>
              <a:t>     #피크닉·#캠핑은 하락 전환 — 신규 기획 보류, 기존 콘텐츠는 내년 3~4월 재활용 예약</a:t>
            </a:r>
          </a:p>
          <a:p>
            <a:pPr>
              <a:spcAft>
                <a:spcPts val="1000"/>
              </a:spcAft>
            </a:pPr>
            <a:r>
              <a:rPr sz="1650" b="1">
                <a:solidFill>
                  <a:srgbClr val="E1306C"/>
                </a:solidFill>
                <a:latin typeface="맑은 고딕"/>
              </a:rPr>
              <a:t>●  운영 루프</a:t>
            </a:r>
          </a:p>
          <a:p>
            <a:pPr>
              <a:spcAft>
                <a:spcPts val="1300"/>
              </a:spcAft>
            </a:pPr>
            <a:r>
              <a:rPr sz="1350" b="0">
                <a:solidFill>
                  <a:srgbClr val="6B6B6B"/>
                </a:solidFill>
                <a:latin typeface="맑은 고딕"/>
              </a:rPr>
              <a:t>     데이터랩 재수집(주 1회) → 모멘텀 갱신 → 태그 포트폴리오 리밸런싱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4710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6B6B"/>
                </a:solidFill>
                <a:latin typeface="맑은 고딕"/>
              </a:rPr>
              <a:t>시계열 데이터 분석 · 한국 해시태그 트렌드 · 기준일 2026-06-11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4710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맑은 고딕"/>
              </a:rPr>
              <a:t>18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84048"/>
            <a:ext cx="164592" cy="502920"/>
          </a:xfrm>
          <a:prstGeom prst="rect">
            <a:avLst/>
          </a:prstGeom>
          <a:solidFill>
            <a:srgbClr val="E1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33AB4"/>
                </a:solidFill>
                <a:latin typeface="Segoe UI"/>
              </a:rPr>
              <a:t>08 ·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22222"/>
                </a:solidFill>
                <a:latin typeface="맑은 고딕"/>
              </a:rPr>
              <a:t>핵심 코드 ①  데이터 → 평활화 → 차분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E1306C"/>
                </a:solidFill>
                <a:latin typeface="맑은 고딕"/>
              </a:rPr>
              <a:t>●  tidy 패널을 날짜×태그 행렬로 (pandas pivot)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755648"/>
            <a:ext cx="10424160" cy="457200"/>
          </a:xfrm>
          <a:prstGeom prst="rect">
            <a:avLst/>
          </a:prstGeom>
          <a:solidFill>
            <a:srgbClr val="2B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847088"/>
            <a:ext cx="10058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E8E8EE"/>
                </a:solidFill>
                <a:latin typeface="Consolas"/>
              </a:rPr>
              <a:t>wide = panel.pivot(index="date", columns="hashtag", values="ratio")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E1306C"/>
                </a:solidFill>
                <a:latin typeface="맑은 고딕"/>
              </a:rPr>
              <a:t>●  이동평균 평활화 — 7일 중심 윈도우가 주간 주기를 상쇄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761488"/>
            <a:ext cx="10424160" cy="457200"/>
          </a:xfrm>
          <a:prstGeom prst="rect">
            <a:avLst/>
          </a:prstGeom>
          <a:solidFill>
            <a:srgbClr val="2B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852928"/>
            <a:ext cx="10058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E8E8EE"/>
                </a:solidFill>
                <a:latin typeface="Consolas"/>
              </a:rPr>
              <a:t>ma7 = s.rolling(7, center=True).mean()   # 추세 + 노이즈 제거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832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E1306C"/>
                </a:solidFill>
                <a:latin typeface="맑은 고딕"/>
              </a:rPr>
              <a:t>●  1차 차분으로 정상화 (ARIMA의 d=1)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767328"/>
            <a:ext cx="10424160" cy="713232"/>
          </a:xfrm>
          <a:prstGeom prst="rect">
            <a:avLst/>
          </a:prstGeom>
          <a:solidFill>
            <a:srgbClr val="2B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858768"/>
            <a:ext cx="10058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E8E8EE"/>
                </a:solidFill>
                <a:latin typeface="Consolas"/>
              </a:rPr>
              <a:t>diff = s.diff()                          # X_t - X_{t-1}</a:t>
            </a:r>
          </a:p>
          <a:p>
            <a:r>
              <a:rPr sz="1200" b="0">
                <a:solidFill>
                  <a:srgbClr val="E8E8EE"/>
                </a:solidFill>
                <a:latin typeface="Consolas"/>
              </a:rPr>
              <a:t>diff.rolling(28).mean()                  # 평균이 0에 붙는지 진단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64515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E1306C"/>
                </a:solidFill>
                <a:latin typeface="맑은 고딕"/>
              </a:rPr>
              <a:t>●  가법 분해 — 추세는 이동평균, 계절은 '같은 요일끼리 평균'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5029200"/>
            <a:ext cx="10424160" cy="969264"/>
          </a:xfrm>
          <a:prstGeom prst="rect">
            <a:avLst/>
          </a:prstGeom>
          <a:solidFill>
            <a:srgbClr val="2B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51206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E8E8EE"/>
                </a:solidFill>
                <a:latin typeface="Consolas"/>
              </a:rPr>
              <a:t>trend    = s.rolling(7, center=True).mean()</a:t>
            </a:r>
          </a:p>
          <a:p>
            <a:r>
              <a:rPr sz="1200" b="0">
                <a:solidFill>
                  <a:srgbClr val="E8E8EE"/>
                </a:solidFill>
                <a:latin typeface="Consolas"/>
              </a:rPr>
              <a:t>seasonal = (s - trend).groupby(s.index.weekday).transform("mean")</a:t>
            </a:r>
          </a:p>
          <a:p>
            <a:r>
              <a:rPr sz="1200" b="0">
                <a:solidFill>
                  <a:srgbClr val="E8E8EE"/>
                </a:solidFill>
                <a:latin typeface="Consolas"/>
              </a:rPr>
              <a:t>residual = s - trend - seasonal          # 백색잡음이면 성공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654710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6B6B"/>
                </a:solidFill>
                <a:latin typeface="맑은 고딕"/>
              </a:rPr>
              <a:t>시계열 데이터 분석 · 한국 해시태그 트렌드 · 기준일 2026-06-11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54710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맑은 고딕"/>
              </a:rPr>
              <a:t>19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84048"/>
            <a:ext cx="164592" cy="502920"/>
          </a:xfrm>
          <a:prstGeom prst="rect">
            <a:avLst/>
          </a:prstGeom>
          <a:solidFill>
            <a:srgbClr val="E1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33AB4"/>
                </a:solidFill>
                <a:latin typeface="Segoe UI"/>
              </a:rPr>
              <a:t>08 ·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22222"/>
                </a:solidFill>
                <a:latin typeface="맑은 고딕"/>
              </a:rPr>
              <a:t>핵심 코드 ②  ACF → 예측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E1306C"/>
                </a:solidFill>
                <a:latin typeface="맑은 고딕"/>
              </a:rPr>
              <a:t>●  표본 ACF 직접 구현 — ρ(k) = γ(k)/γ(0)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755648"/>
            <a:ext cx="10424160" cy="969264"/>
          </a:xfrm>
          <a:prstGeom prst="rect">
            <a:avLst/>
          </a:prstGeom>
          <a:solidFill>
            <a:srgbClr val="2B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847088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E8E8EE"/>
                </a:solidFill>
                <a:latin typeface="Consolas"/>
              </a:rPr>
              <a:t>x = x - x.mean()</a:t>
            </a:r>
          </a:p>
          <a:p>
            <a:r>
              <a:rPr sz="1200" b="0">
                <a:solidFill>
                  <a:srgbClr val="E8E8EE"/>
                </a:solidFill>
                <a:latin typeface="Consolas"/>
              </a:rPr>
              <a:t>rho_k = np.dot(x[:n-k], x[k:]) / np.dot(x, x)</a:t>
            </a:r>
          </a:p>
          <a:p>
            <a:r>
              <a:rPr sz="1200" b="0">
                <a:solidFill>
                  <a:srgbClr val="E8E8EE"/>
                </a:solidFill>
                <a:latin typeface="Consolas"/>
              </a:rPr>
              <a:t>band  = 1.96 / np.sqrt(n)                # 백색잡음 95% 한계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89504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E1306C"/>
                </a:solidFill>
                <a:latin typeface="맑은 고딕"/>
              </a:rPr>
              <a:t>●  선형추세 적합 (최소제곱) + 요일 더미 계절성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273552"/>
            <a:ext cx="10424160" cy="969264"/>
          </a:xfrm>
          <a:prstGeom prst="rect">
            <a:avLst/>
          </a:prstGeom>
          <a:solidFill>
            <a:srgbClr val="2B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364992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E8E8EE"/>
                </a:solidFill>
                <a:latin typeface="Consolas"/>
              </a:rPr>
              <a:t>coef = np.polyfit(t, s.values, 1)        # 기울기·절편</a:t>
            </a:r>
          </a:p>
          <a:p>
            <a:r>
              <a:rPr sz="1200" b="0">
                <a:solidFill>
                  <a:srgbClr val="E8E8EE"/>
                </a:solidFill>
                <a:latin typeface="Consolas"/>
              </a:rPr>
              <a:t>seasonal = pd.Series(s.values - np.polyval(coef, t)) \</a:t>
            </a:r>
          </a:p>
          <a:p>
            <a:r>
              <a:rPr sz="1200" b="0">
                <a:solidFill>
                  <a:srgbClr val="E8E8EE"/>
                </a:solidFill>
                <a:latin typeface="Consolas"/>
              </a:rPr>
              <a:t>             .groupby(s.index.weekday).mean()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40740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E1306C"/>
                </a:solidFill>
                <a:latin typeface="맑은 고딕"/>
              </a:rPr>
              <a:t>●  14일 외삽 + 95% 예측구간 (잔차 표준편차 기반)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791456"/>
            <a:ext cx="10424160" cy="713232"/>
          </a:xfrm>
          <a:prstGeom prst="rect">
            <a:avLst/>
          </a:prstGeom>
          <a:solidFill>
            <a:srgbClr val="2B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882896"/>
            <a:ext cx="10058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E8E8EE"/>
                </a:solidFill>
                <a:latin typeface="Consolas"/>
              </a:rPr>
              <a:t>future = np.polyval(coef, future_t) + seasonal[future_weekday]</a:t>
            </a:r>
          </a:p>
          <a:p>
            <a:r>
              <a:rPr sz="1200" b="0">
                <a:solidFill>
                  <a:srgbClr val="E8E8EE"/>
                </a:solidFill>
                <a:latin typeface="Consolas"/>
              </a:rPr>
              <a:t>lo, hi = future - 1.96*resid_std, future + 1.96*resid_std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654710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6B6B"/>
                </a:solidFill>
                <a:latin typeface="맑은 고딕"/>
              </a:rPr>
              <a:t>시계열 데이터 분석 · 한국 해시태그 트렌드 · 기준일 2026-06-11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54710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맑은 고딕"/>
              </a:rPr>
              <a:t>20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84048"/>
            <a:ext cx="164592" cy="502920"/>
          </a:xfrm>
          <a:prstGeom prst="rect">
            <a:avLst/>
          </a:prstGeom>
          <a:solidFill>
            <a:srgbClr val="E1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33AB4"/>
                </a:solidFill>
                <a:latin typeface="Segoe UI"/>
              </a:rPr>
              <a:t>08 ·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22222"/>
                </a:solidFill>
                <a:latin typeface="맑은 고딕"/>
              </a:rPr>
              <a:t>한계와 재현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71600"/>
            <a:ext cx="10789920" cy="822960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10332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222222"/>
                </a:solidFill>
                <a:latin typeface="맑은 고딕"/>
              </a:rPr>
              <a:t>정직한 캐비앗: 이 분석이 말할 수 있는 것과 없는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50" b="1">
                <a:solidFill>
                  <a:srgbClr val="E1306C"/>
                </a:solidFill>
                <a:latin typeface="맑은 고딕"/>
              </a:rPr>
              <a:t>●  프록시 한계</a:t>
            </a:r>
          </a:p>
          <a:p>
            <a:pPr>
              <a:spcAft>
                <a:spcPts val="1300"/>
              </a:spcAft>
            </a:pPr>
            <a:r>
              <a:rPr sz="1350" b="0">
                <a:solidFill>
                  <a:srgbClr val="6B6B6B"/>
                </a:solidFill>
                <a:latin typeface="맑은 고딕"/>
              </a:rPr>
              <a:t>     네이버 검색량 ≠ 인스타그램 게시량 — '한국 사용자의 주제 관심도'의 대리지표로 해석해야 함</a:t>
            </a:r>
          </a:p>
          <a:p>
            <a:pPr>
              <a:spcAft>
                <a:spcPts val="1000"/>
              </a:spcAft>
            </a:pPr>
            <a:r>
              <a:rPr sz="1650" b="1">
                <a:solidFill>
                  <a:srgbClr val="E1306C"/>
                </a:solidFill>
                <a:latin typeface="맑은 고딕"/>
              </a:rPr>
              <a:t>●  상대값 한계</a:t>
            </a:r>
          </a:p>
          <a:p>
            <a:pPr>
              <a:spcAft>
                <a:spcPts val="1300"/>
              </a:spcAft>
            </a:pPr>
            <a:r>
              <a:rPr sz="1350" b="0">
                <a:solidFill>
                  <a:srgbClr val="6B6B6B"/>
                </a:solidFill>
                <a:latin typeface="맑은 고딕"/>
              </a:rPr>
              <a:t>     데이터랩 ratio는 요청 내 정규화 — 태그 간 절대 규모 비교 불가, 시간 변화·모멘텀 비교만 유효</a:t>
            </a:r>
          </a:p>
          <a:p>
            <a:pPr>
              <a:spcAft>
                <a:spcPts val="1000"/>
              </a:spcAft>
            </a:pPr>
            <a:r>
              <a:rPr sz="1650" b="1">
                <a:solidFill>
                  <a:srgbClr val="E1306C"/>
                </a:solidFill>
                <a:latin typeface="맑은 고딕"/>
              </a:rPr>
              <a:t>●  실시간성</a:t>
            </a:r>
          </a:p>
          <a:p>
            <a:pPr>
              <a:spcAft>
                <a:spcPts val="1300"/>
              </a:spcAft>
            </a:pPr>
            <a:r>
              <a:rPr sz="1350" b="0">
                <a:solidFill>
                  <a:srgbClr val="6B6B6B"/>
                </a:solidFill>
                <a:latin typeface="맑은 고딕"/>
              </a:rPr>
              <a:t>     2026-06-11 수집 스냅샷 — '실시간 스트림'이 아니라 주기 재수집으로 갱신하는 구조 (전일까지 일별 제공)</a:t>
            </a:r>
          </a:p>
          <a:p>
            <a:pPr>
              <a:spcAft>
                <a:spcPts val="1000"/>
              </a:spcAft>
            </a:pPr>
            <a:r>
              <a:rPr sz="1650" b="1">
                <a:solidFill>
                  <a:srgbClr val="E1306C"/>
                </a:solidFill>
                <a:latin typeface="맑은 고딕"/>
              </a:rPr>
              <a:t>●  모형 한계</a:t>
            </a:r>
          </a:p>
          <a:p>
            <a:pPr>
              <a:spcAft>
                <a:spcPts val="1300"/>
              </a:spcAft>
            </a:pPr>
            <a:r>
              <a:rPr sz="1350" b="0">
                <a:solidFill>
                  <a:srgbClr val="6B6B6B"/>
                </a:solidFill>
                <a:latin typeface="맑은 고딕"/>
              </a:rPr>
              <a:t>     선형추세+요일 더미는 외생 이벤트(연휴 스파이크)·추세 전환을 늦게 반영 — SARIMA·지수평활이 다음 단계</a:t>
            </a:r>
          </a:p>
          <a:p>
            <a:pPr>
              <a:spcAft>
                <a:spcPts val="1000"/>
              </a:spcAft>
            </a:pPr>
            <a:r>
              <a:rPr sz="1650" b="1">
                <a:solidFill>
                  <a:srgbClr val="E1306C"/>
                </a:solidFill>
                <a:latin typeface="맑은 고딕"/>
              </a:rPr>
              <a:t>●  재현</a:t>
            </a:r>
          </a:p>
          <a:p>
            <a:pPr>
              <a:spcAft>
                <a:spcPts val="1300"/>
              </a:spcAft>
            </a:pPr>
            <a:r>
              <a:rPr sz="1350" b="0">
                <a:solidFill>
                  <a:srgbClr val="6B6B6B"/>
                </a:solidFill>
                <a:latin typeface="맑은 고딕"/>
              </a:rPr>
              <a:t>     pip install -r presentation/requirements.txt &amp;&amp; python presentation/build_deck.py — CSV 고정으로 결정론적 재생성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4710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6B6B"/>
                </a:solidFill>
                <a:latin typeface="맑은 고딕"/>
              </a:rPr>
              <a:t>시계열 데이터 분석 · 한국 해시태그 트렌드 · 기준일 2026-06-11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4710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맑은 고딕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